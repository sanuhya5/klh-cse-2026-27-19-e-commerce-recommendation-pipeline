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6" r:id="rId3"/>
    <p:sldId id="288" r:id="rId5"/>
    <p:sldId id="303" r:id="rId6"/>
    <p:sldId id="287" r:id="rId7"/>
    <p:sldId id="289" r:id="rId8"/>
    <p:sldId id="306" r:id="rId9"/>
    <p:sldId id="305" r:id="rId10"/>
    <p:sldId id="307" r:id="rId11"/>
    <p:sldId id="308" r:id="rId12"/>
    <p:sldId id="291" r:id="rId13"/>
    <p:sldId id="309" r:id="rId14"/>
    <p:sldId id="310" r:id="rId15"/>
    <p:sldId id="311" r:id="rId16"/>
    <p:sldId id="312" r:id="rId17"/>
    <p:sldId id="292" r:id="rId18"/>
    <p:sldId id="319" r:id="rId19"/>
    <p:sldId id="293" r:id="rId20"/>
    <p:sldId id="294" r:id="rId21"/>
    <p:sldId id="313" r:id="rId22"/>
    <p:sldId id="321" r:id="rId23"/>
    <p:sldId id="314" r:id="rId24"/>
    <p:sldId id="315" r:id="rId25"/>
    <p:sldId id="325" r:id="rId26"/>
    <p:sldId id="316" r:id="rId27"/>
    <p:sldId id="323" r:id="rId28"/>
    <p:sldId id="326" r:id="rId29"/>
    <p:sldId id="317" r:id="rId30"/>
    <p:sldId id="318" r:id="rId31"/>
    <p:sldId id="320" r:id="rId3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41" autoAdjust="0"/>
    <p:restoredTop sz="95033" autoAdjust="0"/>
  </p:normalViewPr>
  <p:slideViewPr>
    <p:cSldViewPr showGuides="1">
      <p:cViewPr varScale="1">
        <p:scale>
          <a:sx n="117" d="100"/>
          <a:sy n="117" d="100"/>
        </p:scale>
        <p:origin x="1008" y="108"/>
      </p:cViewPr>
      <p:guideLst>
        <p:guide orient="horz" pos="2160"/>
        <p:guide pos="2888"/>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endParaRPr lang="en-US"/>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endParaRPr lang="en-US"/>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hyperlink" Target="https://doi.org/10.1145/2959100.2959190" TargetMode="External"/><Relationship Id="rId8" Type="http://schemas.openxmlformats.org/officeDocument/2006/relationships/hyperlink" Target="https://oamonitor.ireland.openaire.eu/rpo/rcsi/search/publication?pid=10.1109%2Fmc.2009.263&amp;utm_source=chatgpt.com" TargetMode="External"/><Relationship Id="rId7" Type="http://schemas.openxmlformats.org/officeDocument/2006/relationships/hyperlink" Target="https://doi.org/10.1109/MC.2009.263" TargetMode="External"/><Relationship Id="rId6" Type="http://schemas.openxmlformats.org/officeDocument/2006/relationships/hyperlink" Target="https://cir.nii.ac.jp/crid/1363107368767620736?utm_source=chatgpt.com" TargetMode="External"/><Relationship Id="rId5" Type="http://schemas.openxmlformats.org/officeDocument/2006/relationships/hyperlink" Target="https://doi.org/10.1109/ICDM.2008.22" TargetMode="External"/><Relationship Id="rId4" Type="http://schemas.openxmlformats.org/officeDocument/2006/relationships/hyperlink" Target="https://ieeexplore.ieee.org/document/1167344?utm_source=chatgpt.com" TargetMode="External"/><Relationship Id="rId3" Type="http://schemas.openxmlformats.org/officeDocument/2006/relationships/hyperlink" Target="https://doi.org/10.1109/MIC.2003.1167344" TargetMode="External"/><Relationship Id="rId2" Type="http://schemas.openxmlformats.org/officeDocument/2006/relationships/hyperlink" Target="https://es.wikipedia.org/wiki/Sistema_de_recomendaci%C3%B3n?utm_source=chatgpt.com" TargetMode="External"/><Relationship Id="rId14" Type="http://schemas.openxmlformats.org/officeDocument/2006/relationships/slideLayout" Target="../slideLayouts/slideLayout2.xml"/><Relationship Id="rId13" Type="http://schemas.openxmlformats.org/officeDocument/2006/relationships/image" Target="../media/image1.png"/><Relationship Id="rId12" Type="http://schemas.openxmlformats.org/officeDocument/2006/relationships/hyperlink" Target="https://dl.acm.org/?utm_source=chatgpt.com" TargetMode="External"/><Relationship Id="rId11" Type="http://schemas.openxmlformats.org/officeDocument/2006/relationships/hyperlink" Target="https://doi.org/10.1145/3038912.3052569" TargetMode="External"/><Relationship Id="rId10" Type="http://schemas.openxmlformats.org/officeDocument/2006/relationships/hyperlink" Target="https://doi.org/10.1145/2959100.2959190?utm_source=chatgpt.com" TargetMode="External"/><Relationship Id="rId1" Type="http://schemas.openxmlformats.org/officeDocument/2006/relationships/hyperlink" Target="https://doi.org/10.1109/TKDE.2005.99"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0225" y="501586"/>
            <a:ext cx="6153150" cy="741004"/>
          </a:xfrm>
        </p:spPr>
        <p:txBody>
          <a:bodyPr>
            <a:normAutofit fontScale="90000"/>
          </a:bodyPr>
          <a:lstStyle/>
          <a:p>
            <a:pPr>
              <a:defRPr/>
            </a:pP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r>
              <a:rPr lang="en-IN" sz="2800" b="1" dirty="0">
                <a:solidFill>
                  <a:srgbClr val="0070C0"/>
                </a:solidFill>
                <a:latin typeface="Times New Roman" panose="02020603050405020304" pitchFamily="18" charset="0"/>
                <a:cs typeface="Times New Roman" panose="02020603050405020304" pitchFamily="18" charset="0"/>
              </a:rPr>
              <a:t>E - Commerce Recommendation pipeline</a:t>
            </a:r>
            <a:br>
              <a:rPr lang="en-US" sz="2200" b="1"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b="1" dirty="0"/>
            </a:br>
            <a:endParaRPr lang="en-US" sz="3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47800" y="1092564"/>
            <a:ext cx="6343650" cy="2799768"/>
          </a:xfrm>
        </p:spPr>
        <p:txBody>
          <a:bodyPr>
            <a:normAutofit fontScale="25000" lnSpcReduction="20000"/>
          </a:bodyPr>
          <a:lstStyle/>
          <a:p>
            <a:pPr>
              <a:lnSpc>
                <a:spcPct val="80000"/>
              </a:lnSpc>
              <a:defRPr/>
            </a:pPr>
            <a:endParaRPr lang="en-US" sz="80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Batch 19 - Section 4</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6400" b="1" dirty="0">
                <a:solidFill>
                  <a:srgbClr val="0070C0"/>
                </a:solidFill>
                <a:latin typeface="Times New Roman" panose="02020603050405020304" pitchFamily="18" charset="0"/>
                <a:cs typeface="Times New Roman" panose="02020603050405020304" pitchFamily="18" charset="0"/>
              </a:rPr>
              <a:t> </a:t>
            </a:r>
            <a:r>
              <a:rPr lang="en-US" sz="7200" b="1" dirty="0">
                <a:solidFill>
                  <a:srgbClr val="0070C0"/>
                </a:solidFill>
                <a:latin typeface="Times New Roman" panose="02020603050405020304" pitchFamily="18" charset="0"/>
                <a:cs typeface="Times New Roman" panose="02020603050405020304" pitchFamily="18" charset="0"/>
              </a:rPr>
              <a:t>Team members</a:t>
            </a: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900" b="1" dirty="0">
              <a:solidFill>
                <a:srgbClr val="00B0F0"/>
              </a:solidFill>
              <a:latin typeface="Times New Roman" panose="02020603050405020304" pitchFamily="18" charset="0"/>
              <a:cs typeface="Times New Roman" panose="02020603050405020304" pitchFamily="18" charset="0"/>
            </a:endParaRPr>
          </a:p>
          <a:p>
            <a:pPr algn="l">
              <a:lnSpc>
                <a:spcPct val="80000"/>
              </a:lnSpc>
              <a:defRPr/>
            </a:pPr>
            <a:r>
              <a:rPr lang="en-US" sz="4900" b="1" dirty="0">
                <a:solidFill>
                  <a:schemeClr val="tx1"/>
                </a:solidFill>
                <a:latin typeface="Times New Roman" panose="02020603050405020304" pitchFamily="18" charset="0"/>
                <a:cs typeface="Times New Roman" panose="02020603050405020304" pitchFamily="18" charset="0"/>
              </a:rPr>
              <a:t>                                                               </a:t>
            </a:r>
            <a:r>
              <a:rPr lang="en-US" sz="4800" b="1" dirty="0">
                <a:solidFill>
                  <a:schemeClr val="tx1"/>
                </a:solidFill>
                <a:latin typeface="Times New Roman" panose="02020603050405020304" pitchFamily="18" charset="0"/>
                <a:cs typeface="Times New Roman" panose="02020603050405020304" pitchFamily="18" charset="0"/>
              </a:rPr>
              <a:t>Roll No             Name</a:t>
            </a:r>
            <a:endParaRPr lang="en-US" sz="4800" b="1"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2420030427     Y. Nimisha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2420030498     K. Sanuhya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2420030516     R. Sarvajith </a:t>
            </a:r>
            <a:r>
              <a:rPr lang="en-US" sz="4800" dirty="0" err="1">
                <a:solidFill>
                  <a:schemeClr val="tx1"/>
                </a:solidFill>
                <a:latin typeface="Times New Roman" panose="02020603050405020304" pitchFamily="18" charset="0"/>
                <a:cs typeface="Times New Roman" panose="02020603050405020304" pitchFamily="18" charset="0"/>
              </a:rPr>
              <a:t>varma</a:t>
            </a:r>
            <a:endParaRPr lang="en-US" sz="4800"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rgbClr val="FF0000"/>
              </a:solidFill>
              <a:latin typeface="Times New Roman" panose="02020603050405020304" pitchFamily="18" charset="0"/>
              <a:cs typeface="Times New Roman" panose="02020603050405020304"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GB" sz="4200" b="1" i="1" dirty="0">
              <a:solidFill>
                <a:srgbClr val="FF0000"/>
              </a:solidFill>
              <a:latin typeface="Times New Roman" panose="02020603050405020304" pitchFamily="18" charset="0"/>
              <a:ea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5600" b="1" dirty="0">
              <a:solidFill>
                <a:srgbClr val="0070C0"/>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D0D0D"/>
                </a:solidFill>
                <a:latin typeface="Times New Roman" panose="02020603050405020304" pitchFamily="18" charset="0"/>
                <a:cs typeface="Times New Roman" panose="02020603050405020304" pitchFamily="18" charset="0"/>
              </a:rPr>
              <a:t>                                                </a:t>
            </a:r>
            <a:r>
              <a:rPr lang="en-US" sz="4200" dirty="0">
                <a:solidFill>
                  <a:srgbClr val="0D0D0D"/>
                </a:solidFill>
                <a:latin typeface="Times New Roman" panose="02020603050405020304" pitchFamily="18" charset="0"/>
                <a:cs typeface="Times New Roman" panose="02020603050405020304" pitchFamily="18" charset="0"/>
              </a:rPr>
              <a:t>                              </a:t>
            </a:r>
            <a:r>
              <a:rPr lang="en-US" sz="1800" dirty="0">
                <a:solidFill>
                  <a:srgbClr val="0D0D0D"/>
                </a:solidFill>
                <a:latin typeface="Times New Roman" panose="02020603050405020304" pitchFamily="18" charset="0"/>
                <a:cs typeface="Times New Roman" panose="02020603050405020304" pitchFamily="18" charset="0"/>
              </a:rPr>
              <a:t>                                            </a:t>
            </a:r>
            <a:endParaRPr lang="en-US" sz="18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447800" y="5115098"/>
            <a:ext cx="6858000" cy="1047403"/>
          </a:xfrm>
          <a:prstGeom prst="rect">
            <a:avLst/>
          </a:prstGeom>
          <a:noFill/>
        </p:spPr>
        <p:txBody>
          <a:bodyPr wrap="square">
            <a:spAutoFit/>
          </a:bodyPr>
          <a:lstStyle/>
          <a:p>
            <a:pPr algn="ctr">
              <a:lnSpc>
                <a:spcPct val="107000"/>
              </a:lnSpc>
              <a:spcBef>
                <a:spcPts val="1165"/>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718476"/>
            <a:ext cx="8229600" cy="4525963"/>
          </a:xfrm>
        </p:spPr>
        <p:txBody>
          <a:bodyPr>
            <a:normAutofit fontScale="40000" lnSpcReduction="20000"/>
          </a:bodyPr>
          <a:lstStyle/>
          <a:p>
            <a:pPr>
              <a:lnSpc>
                <a:spcPct val="120000"/>
              </a:lnSpc>
            </a:pPr>
            <a:r>
              <a:rPr lang="en-IN" sz="5100" dirty="0">
                <a:latin typeface="Times New Roman" panose="02020603050405020304" pitchFamily="18" charset="0"/>
                <a:cs typeface="Times New Roman" panose="02020603050405020304" pitchFamily="18" charset="0"/>
              </a:rPr>
              <a:t>Abstract</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Introduction</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Objectives</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Existing system</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Limitations of Existing System</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Proposed System</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Literature Survey</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Software Requirements</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Hardware Requirements</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Functional Requirements</a:t>
            </a:r>
            <a:endParaRPr lang="en-IN" sz="5100" dirty="0">
              <a:latin typeface="Times New Roman" panose="02020603050405020304" pitchFamily="18" charset="0"/>
              <a:cs typeface="Times New Roman" panose="02020603050405020304" pitchFamily="18" charset="0"/>
            </a:endParaRPr>
          </a:p>
          <a:p>
            <a:pPr>
              <a:lnSpc>
                <a:spcPct val="120000"/>
              </a:lnSpc>
            </a:pPr>
            <a:r>
              <a:rPr lang="en-IN" sz="5100" dirty="0">
                <a:latin typeface="Times New Roman" panose="02020603050405020304" pitchFamily="18" charset="0"/>
                <a:cs typeface="Times New Roman" panose="02020603050405020304" pitchFamily="18" charset="0"/>
              </a:rPr>
              <a:t>Non-Functional Requirements</a:t>
            </a:r>
            <a:endParaRPr lang="en-IN" sz="5100" dirty="0">
              <a:latin typeface="Times New Roman" panose="02020603050405020304" pitchFamily="18" charset="0"/>
              <a:cs typeface="Times New Roman" panose="02020603050405020304" pitchFamily="18" charset="0"/>
            </a:endParaRPr>
          </a:p>
          <a:p>
            <a:pPr>
              <a:lnSpc>
                <a:spcPct val="120000"/>
              </a:lnSpc>
            </a:pPr>
            <a:endParaRPr lang="en-IN" sz="51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718476"/>
            <a:ext cx="8229600" cy="4525963"/>
          </a:xfrm>
        </p:spPr>
        <p:txBody>
          <a:bodyPr>
            <a:normAutofit/>
          </a:bodyPr>
          <a:lstStyle/>
          <a:p>
            <a:pPr>
              <a:lnSpc>
                <a:spcPct val="120000"/>
              </a:lnSpc>
            </a:pPr>
            <a:r>
              <a:rPr lang="en-IN" sz="2000" dirty="0">
                <a:latin typeface="Times New Roman" panose="02020603050405020304" pitchFamily="18" charset="0"/>
                <a:cs typeface="Times New Roman" panose="02020603050405020304" pitchFamily="18" charset="0"/>
              </a:rPr>
              <a:t>System architecture</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UML Diagrams</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Technologies used</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Implementation(code)</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Flow Diagram/Functionality</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Results</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Comparison</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a:p>
            <a:pPr>
              <a:lnSpc>
                <a:spcPct val="120000"/>
              </a:lnSpc>
            </a:pPr>
            <a:endParaRPr lang="en-IN" sz="42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0" indent="0" algn="just">
              <a:lnSpc>
                <a:spcPct val="110000"/>
              </a:lnSpc>
              <a:buNone/>
            </a:pPr>
            <a:r>
              <a:rPr lang="en-IN" dirty="0">
                <a:latin typeface="Times New Roman" panose="02020603050405020304" pitchFamily="18" charset="0"/>
                <a:cs typeface="Times New Roman" panose="02020603050405020304" pitchFamily="18" charset="0"/>
              </a:rPr>
              <a:t>E-commerce platforms provide a very large number of products, which can make it difficult for customers to find products that match their needs and interests. To solve this problem, recommendation systems study different types of user activities, such as searches, clicks, product views, ratings, cart activity, and previous purchases. These activities help the system understand what a customer is interested in. The collected information is then processed through a recommendation pipeline, where the data is collected, cleaned, prepared, and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Based on this processed data, suitable products are identified, ranked according to their relevance, and recommended to the customer. The recommendations are personalized because they are based on the individual customer's interests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This project focuses on understanding how an e-commerce recommendation system works, the different stages involved in its data pipeline, and how these personalized recommendations can improve product discovery, customer experience, and make online shopping easier and more convenient.</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92" y="568915"/>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066800"/>
            <a:ext cx="8686800" cy="5029200"/>
          </a:xfrm>
        </p:spPr>
        <p:txBody>
          <a:bodyPr>
            <a:noAutofit/>
          </a:bodyPr>
          <a:lstStyle/>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E-commerce has become a major part of everyday shopping, with platforms offering thousands or even millions of products. With so many choices available, customers may find it difficult to identify products that are relevant to their needs.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An e-commerce recommendation system helps solve this problem by understanding customer interests and suggesting products that they are likely to prefer. It uses information such as search history, product views, clicks, ratings, cart activity, and previous purchases.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Behind these recommendations is a recommendation pipeline. It takes user and product data, processes the information, finds relevant products, ranks them, and finally displays the most suitable recommendations to the customer.</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Therefore, recommendation systems help make online shopping more personalized, convenient, and efficient, while also helping e-commerce platforms improve customer engagement and product discovery.</a:t>
            </a:r>
            <a:endParaRPr lang="en-IN" sz="19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214" y="596907"/>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Objectives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360229" cy="4419600"/>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Understand the working of e-commerce recommendation systems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Collect user and product activity data</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Process and clean recommendation data</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user interests and preferences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Generate relevant product recommendations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Rank products based on user </a:t>
            </a:r>
            <a:r>
              <a:rPr lang="en-IN" sz="2000" dirty="0" err="1">
                <a:latin typeface="Times New Roman" panose="02020603050405020304" pitchFamily="18" charset="0"/>
                <a:cs typeface="Times New Roman" panose="02020603050405020304" pitchFamily="18" charset="0"/>
              </a:rPr>
              <a:t>behavior</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Provide personalized recommendations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Improve product discovery and customer experience</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9" y="608459"/>
            <a:ext cx="8458200" cy="715962"/>
          </a:xfrm>
        </p:spPr>
        <p:txBody>
          <a:bodyPr/>
          <a:lstStyle/>
          <a:p>
            <a:r>
              <a:rPr lang="en-IN" b="1" dirty="0">
                <a:solidFill>
                  <a:srgbClr val="0070C0"/>
                </a:solidFill>
                <a:latin typeface="Times New Roman" panose="02020603050405020304" pitchFamily="18" charset="0"/>
                <a:cs typeface="Times New Roman" panose="02020603050405020304" pitchFamily="18" charset="0"/>
              </a:rPr>
              <a:t>Existing System</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360229" cy="4419600"/>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E-commerce platforms provide a large number of products to customers. Traditional systems mainly display products based on general popularity, categories, or basic search results.</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Some recommendation systems use user activities such as product views, clicks, ratings, cart activity, and previous purchases to identify customer interests. However, the recommendation process depends on how effectively this user and product data is collected, processed,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and used.</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The existing approach may not always provide highly personalized recommendations for every customer.</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29234"/>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Limitations of Existing System</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447800"/>
            <a:ext cx="8360229" cy="4419600"/>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Large number of products can make product selection difficult.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Generic recommendations may not match individual customer interests.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User preferences can change over time.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Raw user activity data may contain missing or unnecessary information.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Processing large amounts of user activity can be challenging.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New users and new products may have limited interaction data.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Ranking relevant products accurately can be difficult.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Poor recommendations can reduce product discovery and user experience. </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18678"/>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Proposed System</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360229" cy="4419600"/>
          </a:xfrm>
        </p:spPr>
        <p:txBody>
          <a:bodyPr>
            <a:noAutofit/>
          </a:bodyPr>
          <a:lstStyle/>
          <a:p>
            <a:pPr algn="just"/>
            <a:r>
              <a:rPr lang="en-IN" sz="2000" dirty="0">
                <a:latin typeface="Times New Roman" panose="02020603050405020304" pitchFamily="18" charset="0"/>
                <a:cs typeface="Times New Roman" panose="02020603050405020304" pitchFamily="18" charset="0"/>
              </a:rPr>
              <a:t>The proposed system focuses on an E-Commerce Recommendation Pipeline that processes customer and product activity to generate personalized product recommendations.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system collects information such as searches, product views, clicks, ratings, cart activity, and previous purchases. The collected data is cleaned and prepared before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customer interests and preferences.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Based on the processed data, suitable products are identified and ranked according to user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product relevance. The final recommendations are then presented to the customer.</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proposed pipeline helps improve </a:t>
            </a:r>
            <a:r>
              <a:rPr lang="en-IN" sz="2000" b="1" dirty="0">
                <a:latin typeface="Times New Roman" panose="02020603050405020304" pitchFamily="18" charset="0"/>
                <a:cs typeface="Times New Roman" panose="02020603050405020304" pitchFamily="18" charset="0"/>
              </a:rPr>
              <a:t>personalization, product discovery, and customer experience.</a:t>
            </a:r>
            <a:endParaRPr lang="en-IN"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78034"/>
            <a:ext cx="5791200" cy="381000"/>
          </a:xfrm>
        </p:spPr>
        <p:txBody>
          <a:bodyPr>
            <a:normAutofit fontScale="90000"/>
          </a:bodyPr>
          <a:lstStyle/>
          <a:p>
            <a:r>
              <a:rPr lang="en-IN" b="1" dirty="0">
                <a:solidFill>
                  <a:srgbClr val="0070C0"/>
                </a:solidFill>
                <a:latin typeface="Times New Roman" panose="02020603050405020304" pitchFamily="18" charset="0"/>
                <a:cs typeface="Times New Roman" panose="02020603050405020304" pitchFamily="18" charset="0"/>
              </a:rPr>
              <a:t>Literature Survey</a:t>
            </a:r>
            <a:endParaRPr lang="en-IN"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nvPr>
        </p:nvGraphicFramePr>
        <p:xfrm>
          <a:off x="106210" y="1092187"/>
          <a:ext cx="8961589" cy="5614939"/>
        </p:xfrm>
        <a:graphic>
          <a:graphicData uri="http://schemas.openxmlformats.org/drawingml/2006/table">
            <a:tbl>
              <a:tblPr>
                <a:tableStyleId>{5C22544A-7EE6-4342-B048-85BDC9FD1C3A}</a:tableStyleId>
              </a:tblPr>
              <a:tblGrid>
                <a:gridCol w="536163"/>
                <a:gridCol w="2349772"/>
                <a:gridCol w="2552294"/>
                <a:gridCol w="1017153"/>
                <a:gridCol w="2506207"/>
              </a:tblGrid>
              <a:tr h="269902">
                <a:tc>
                  <a:txBody>
                    <a:bodyPr/>
                    <a:lstStyle/>
                    <a:p>
                      <a:pPr>
                        <a:buNone/>
                      </a:pPr>
                      <a:r>
                        <a:rPr lang="en-IN" sz="1100">
                          <a:latin typeface="Times New Roman" panose="02020603050405020304" pitchFamily="18" charset="0"/>
                          <a:cs typeface="Times New Roman" panose="02020603050405020304" pitchFamily="18" charset="0"/>
                        </a:rPr>
                        <a:t>S.No</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dirty="0">
                          <a:latin typeface="Times New Roman" panose="02020603050405020304" pitchFamily="18" charset="0"/>
                          <a:cs typeface="Times New Roman" panose="02020603050405020304" pitchFamily="18" charset="0"/>
                        </a:rPr>
                        <a:t>Research Paper</a:t>
                      </a:r>
                      <a:endParaRPr lang="en-IN" sz="1100" dirty="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Author(s)</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b="1">
                          <a:latin typeface="Times New Roman" panose="02020603050405020304" pitchFamily="18" charset="0"/>
                          <a:cs typeface="Times New Roman" panose="02020603050405020304" pitchFamily="18" charset="0"/>
                        </a:rPr>
                        <a:t>Actual Link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Drawback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r>
              <a:tr h="793825">
                <a:tc>
                  <a:txBody>
                    <a:bodyPr/>
                    <a:lstStyle/>
                    <a:p>
                      <a:pPr>
                        <a:buNone/>
                      </a:pPr>
                      <a:r>
                        <a:rPr lang="en-IN" sz="1100" b="1">
                          <a:latin typeface="Times New Roman" panose="02020603050405020304" pitchFamily="18" charset="0"/>
                          <a:cs typeface="Times New Roman" panose="02020603050405020304" pitchFamily="18" charset="0"/>
                        </a:rPr>
                        <a:t>1.</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Toward the Next Generation of Recommender Systems: A Survey</a:t>
                      </a:r>
                      <a:endParaRPr lang="en-IN" sz="11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Gediminas Adomavicius, Alexander Tuzhilin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
                        </a:rPr>
                        <a:t>https://doi.org/10.1109/TKDE.2005.99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a broad overview of recommendation techniques, but does not focus on one specific e-commerce application. (</a:t>
                      </a:r>
                      <a:r>
                        <a:rPr lang="en-IN" sz="1100">
                          <a:latin typeface="Times New Roman" panose="02020603050405020304" pitchFamily="18" charset="0"/>
                          <a:cs typeface="Times New Roman" panose="02020603050405020304" pitchFamily="18" charset="0"/>
                          <a:hlinkClick r:id="rId2" tooltip="Sistema de recomendación"/>
                        </a:rPr>
                        <a:t>Wikipedia</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68467">
                <a:tc>
                  <a:txBody>
                    <a:bodyPr/>
                    <a:lstStyle/>
                    <a:p>
                      <a:pPr>
                        <a:buNone/>
                      </a:pPr>
                      <a:r>
                        <a:rPr lang="en-IN" sz="1100" b="1">
                          <a:latin typeface="Times New Roman" panose="02020603050405020304" pitchFamily="18" charset="0"/>
                          <a:cs typeface="Times New Roman" panose="02020603050405020304" pitchFamily="18" charset="0"/>
                        </a:rPr>
                        <a:t>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Amazon.com Recommendations: Item-to-Item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Greg Linden, Brent Smith, Jeremy York</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3"/>
                        </a:rPr>
                        <a:t>https://doi.org/10.1109/MIC.2003.1167344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Works well for large-scale recommendations, but mainly focuses on item-to-item relationships and may not fully capture complex user preferences. (</a:t>
                      </a:r>
                      <a:r>
                        <a:rPr lang="en-IN" sz="1100">
                          <a:latin typeface="Times New Roman" panose="02020603050405020304" pitchFamily="18" charset="0"/>
                          <a:cs typeface="Times New Roman" panose="02020603050405020304" pitchFamily="18" charset="0"/>
                          <a:hlinkClick r:id="rId4" tooltip="Amazon.com recommendations: item-to-item collaborative filtering | IEEE Journals &amp; Magazine | IEEE Xplore"/>
                        </a:rPr>
                        <a:t>IEEE Xplore</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Collaborative Filtering for Implicit Feedback Datasets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Yifan Hu, Yehuda Koren,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5"/>
                        </a:rPr>
                        <a:t>https://doi.org/10.1109/ICDM.2008.22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implicit user feedback such as views and purchases, but implicit feedback does not always indicate whether a user actually liked a product. (</a:t>
                      </a:r>
                      <a:r>
                        <a:rPr lang="en-IN" sz="1100">
                          <a:latin typeface="Times New Roman" panose="02020603050405020304" pitchFamily="18" charset="0"/>
                          <a:cs typeface="Times New Roman" panose="02020603050405020304" pitchFamily="18" charset="0"/>
                          <a:hlinkClick r:id="rId6" tooltip="Collaborative Filtering for Implicit Feedback Datasets | CiNii Research"/>
                        </a:rPr>
                        <a:t>CiNii Research</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Matrix Factorization Techniques for Recommender Systems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Yehuda Koren, Robert Bell,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7"/>
                        </a:rPr>
                        <a:t>https://doi.org/10.1109/MC.2009.263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effective recommendations, but matrix factorization can have difficulty with new users or new products due to the cold-start problem. (</a:t>
                      </a:r>
                      <a:r>
                        <a:rPr lang="en-IN" sz="1100">
                          <a:latin typeface="Times New Roman" panose="02020603050405020304" pitchFamily="18" charset="0"/>
                          <a:cs typeface="Times New Roman" panose="02020603050405020304" pitchFamily="18" charset="0"/>
                          <a:hlinkClick r:id="rId8" tooltip="Matrix Factorization Techniques for Recommender Systems"/>
                        </a:rPr>
                        <a:t>OA Monitor Ireland</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793825">
                <a:tc>
                  <a:txBody>
                    <a:bodyPr/>
                    <a:lstStyle/>
                    <a:p>
                      <a:pPr>
                        <a:buNone/>
                      </a:pPr>
                      <a:r>
                        <a:rPr lang="en-IN" sz="1100" b="1">
                          <a:latin typeface="Times New Roman" panose="02020603050405020304" pitchFamily="18" charset="0"/>
                          <a:cs typeface="Times New Roman" panose="02020603050405020304" pitchFamily="18" charset="0"/>
                        </a:rPr>
                        <a:t>5.</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Deep Neural Networks for YouTube Recommendations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Paul Covington, Jay Adams, Emre Sargin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9"/>
                        </a:rPr>
                        <a:t>https://doi.org/10.1145/2959100.2959190</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deep learning for candidate generation and ranking, but requires large amounts of data and computational resources. (</a:t>
                      </a:r>
                      <a:r>
                        <a:rPr lang="en-IN" sz="1100">
                          <a:latin typeface="Times New Roman" panose="02020603050405020304" pitchFamily="18" charset="0"/>
                          <a:cs typeface="Times New Roman" panose="02020603050405020304" pitchFamily="18" charset="0"/>
                          <a:hlinkClick r:id="rId10" tooltip="Deep Neural Networks for YouTube Recommendations | Proceedings of the 10th ACM Conference on Recommender Systems"/>
                        </a:rPr>
                        <a:t>DOI</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6.</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Neural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Xiangnan He, Lizi Liao, Hanwang Zhang, Liqiang Nie, Xia Hu, Tat-Seng Chua</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1"/>
                        </a:rPr>
                        <a:t>https://doi.org/10.1145/3038912.3052569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Improves recommendation using neural networks, but the model is more complex and requires more computation than traditional methods. (</a:t>
                      </a:r>
                      <a:r>
                        <a:rPr lang="en-IN" sz="1100" dirty="0">
                          <a:latin typeface="Times New Roman" panose="02020603050405020304" pitchFamily="18" charset="0"/>
                          <a:cs typeface="Times New Roman" panose="02020603050405020304" pitchFamily="18" charset="0"/>
                          <a:hlinkClick r:id="rId12" tooltip="Neural Collaborative Filtering | Proceedings of the 26th ..."/>
                        </a:rPr>
                        <a:t>ACM Digital Library</a:t>
                      </a:r>
                      <a:r>
                        <a:rPr lang="en-IN" sz="1100" dirty="0">
                          <a:latin typeface="Times New Roman" panose="02020603050405020304" pitchFamily="18" charset="0"/>
                          <a:cs typeface="Times New Roman" panose="02020603050405020304" pitchFamily="18" charset="0"/>
                        </a:rPr>
                        <a:t>)</a:t>
                      </a:r>
                      <a:endParaRPr lang="en-IN" sz="1100" dirty="0">
                        <a:latin typeface="Times New Roman" panose="02020603050405020304" pitchFamily="18" charset="0"/>
                        <a:cs typeface="Times New Roman" panose="02020603050405020304" pitchFamily="18" charset="0"/>
                      </a:endParaRPr>
                    </a:p>
                  </a:txBody>
                  <a:tcPr anchor="ctr"/>
                </a:tc>
              </a:tr>
            </a:tbl>
          </a:graphicData>
        </a:graphic>
      </p:graphicFrame>
      <p:pic>
        <p:nvPicPr>
          <p:cNvPr id="4" name="Picture 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6210" y="63507"/>
            <a:ext cx="1874990" cy="9397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08819"/>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Software Requirements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538792"/>
            <a:ext cx="8360229" cy="4419600"/>
          </a:xfrm>
        </p:spPr>
        <p:txBody>
          <a:bodyPr>
            <a:noAutofit/>
          </a:bodyPr>
          <a:lstStyle/>
          <a:p>
            <a:pPr lvl="0" algn="just"/>
            <a:r>
              <a:rPr lang="en-IN" sz="2000" dirty="0">
                <a:latin typeface="Times New Roman" panose="02020603050405020304" pitchFamily="18" charset="0"/>
                <a:cs typeface="Times New Roman" panose="02020603050405020304" pitchFamily="18" charset="0"/>
              </a:rPr>
              <a:t>Operating System: Windows / Linux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Programming Language: Python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Development Environment: Jupyter Notebook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Libraries: Pandas, NumPy, Scikit-learn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Data Processing: Pandas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Numerical Analysis: NumPy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Machine Learning: Scikit-learn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Data Visualization: Matplotlib / other visualization tools </a:t>
            </a:r>
            <a:endParaRPr lang="en-IN" sz="2000" dirty="0">
              <a:latin typeface="Times New Roman" panose="02020603050405020304" pitchFamily="18" charset="0"/>
              <a:cs typeface="Times New Roman" panose="02020603050405020304" pitchFamily="18" charset="0"/>
            </a:endParaRPr>
          </a:p>
          <a:p>
            <a:pPr lvl="0"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These tools are used for data processing, analysis, recommendation logic, experimentation, and testing. </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8819"/>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Hardware Requirements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360229" cy="4419600"/>
          </a:xfrm>
        </p:spPr>
        <p:txBody>
          <a:bodyPr>
            <a:noAutofit/>
          </a:bodyPr>
          <a:lstStyle/>
          <a:p>
            <a:pPr lvl="0" algn="just"/>
            <a:r>
              <a:rPr lang="en-IN" sz="2000" dirty="0">
                <a:latin typeface="Times New Roman" panose="02020603050405020304" pitchFamily="18" charset="0"/>
                <a:cs typeface="Times New Roman" panose="02020603050405020304" pitchFamily="18" charset="0"/>
              </a:rPr>
              <a:t>Processor: Intel Core i3 or equivalent and above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RAM: Minimum 4 GB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Storage: Minimum 10 GB free space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Display: Standard monitor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Input Devices: Keyboard and mouse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Internet Connection: Required for accessing datasets and online development resources </a:t>
            </a:r>
            <a:endParaRPr lang="en-IN" sz="2000" dirty="0">
              <a:latin typeface="Times New Roman" panose="02020603050405020304" pitchFamily="18" charset="0"/>
              <a:cs typeface="Times New Roman" panose="02020603050405020304" pitchFamily="18" charset="0"/>
            </a:endParaRPr>
          </a:p>
          <a:p>
            <a:pPr lvl="0"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system does not require specialized hardware because the recommendation pipeline can be developed and tested on a standard computer.</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837" y="715509"/>
            <a:ext cx="8458200" cy="715962"/>
          </a:xfrm>
        </p:spPr>
        <p:txBody>
          <a:bodyPr>
            <a:normAutofit fontScale="90000"/>
          </a:bodyPr>
          <a:lstStyle/>
          <a:p>
            <a:r>
              <a:rPr lang="en-IN" sz="3700" b="1" dirty="0">
                <a:solidFill>
                  <a:srgbClr val="0070C0"/>
                </a:solidFill>
                <a:latin typeface="Times New Roman" panose="02020603050405020304" pitchFamily="18" charset="0"/>
                <a:cs typeface="Times New Roman" panose="02020603050405020304" pitchFamily="18" charset="0"/>
              </a:rPr>
              <a:t>Functional Requirements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8822" y="1429916"/>
            <a:ext cx="8360229" cy="4419600"/>
          </a:xfrm>
        </p:spPr>
        <p:txBody>
          <a:bodyPr>
            <a:noAutofit/>
          </a:bodyPr>
          <a:lstStyle/>
          <a:p>
            <a:pPr marL="0" indent="0" algn="just">
              <a:buNone/>
            </a:pPr>
            <a:r>
              <a:rPr lang="en-IN" sz="2000" dirty="0">
                <a:latin typeface="Times New Roman" panose="02020603050405020304" pitchFamily="18" charset="0"/>
                <a:cs typeface="Times New Roman" panose="02020603050405020304" pitchFamily="18" charset="0"/>
              </a:rPr>
              <a:t>The system should:</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Collect user activity data.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Collect product-related information.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Store and process user interactions.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Clean and preprocess the collected data. </a:t>
            </a:r>
            <a:endParaRPr lang="en-IN" sz="2000" dirty="0">
              <a:latin typeface="Times New Roman" panose="02020603050405020304" pitchFamily="18" charset="0"/>
              <a:cs typeface="Times New Roman" panose="02020603050405020304" pitchFamily="18" charset="0"/>
            </a:endParaRPr>
          </a:p>
          <a:p>
            <a:pPr lvl="0" algn="just"/>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customer interests and preferences.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Identify relevant products.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Generate product recommendations.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Rank products based on user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relevance.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Display personalized product suggestions. </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Support improved product discovery. </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08819"/>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Non-Functional Requirements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05000"/>
            <a:ext cx="8360229" cy="4419600"/>
          </a:xfrm>
        </p:spPr>
        <p:txBody>
          <a:bodyPr>
            <a:noAutofit/>
          </a:bodyPr>
          <a:lstStyle/>
          <a:p>
            <a:pPr lvl="0" algn="just"/>
            <a:r>
              <a:rPr lang="en-IN" sz="2000" b="1" dirty="0">
                <a:latin typeface="Times New Roman" panose="02020603050405020304" pitchFamily="18" charset="0"/>
                <a:cs typeface="Times New Roman" panose="02020603050405020304" pitchFamily="18" charset="0"/>
              </a:rPr>
              <a:t>Performance:</a:t>
            </a:r>
            <a:r>
              <a:rPr lang="en-IN" sz="2000" dirty="0">
                <a:latin typeface="Times New Roman" panose="02020603050405020304" pitchFamily="18" charset="0"/>
                <a:cs typeface="Times New Roman" panose="02020603050405020304" pitchFamily="18" charset="0"/>
              </a:rPr>
              <a:t> The system should process recommendation data efficiently.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Scalability:</a:t>
            </a:r>
            <a:r>
              <a:rPr lang="en-IN" sz="2000" dirty="0">
                <a:latin typeface="Times New Roman" panose="02020603050405020304" pitchFamily="18" charset="0"/>
                <a:cs typeface="Times New Roman" panose="02020603050405020304" pitchFamily="18" charset="0"/>
              </a:rPr>
              <a:t> The pipeline should be capable of handling increasing amounts of user and product data.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Reliability:</a:t>
            </a:r>
            <a:r>
              <a:rPr lang="en-IN" sz="2000" dirty="0">
                <a:latin typeface="Times New Roman" panose="02020603050405020304" pitchFamily="18" charset="0"/>
                <a:cs typeface="Times New Roman" panose="02020603050405020304" pitchFamily="18" charset="0"/>
              </a:rPr>
              <a:t> The system should provide consistent recommendations for available user data.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Usability:</a:t>
            </a:r>
            <a:r>
              <a:rPr lang="en-IN" sz="2000" dirty="0">
                <a:latin typeface="Times New Roman" panose="02020603050405020304" pitchFamily="18" charset="0"/>
                <a:cs typeface="Times New Roman" panose="02020603050405020304" pitchFamily="18" charset="0"/>
              </a:rPr>
              <a:t> Recommendations should be easy for customers to understand and use.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Maintainability:</a:t>
            </a:r>
            <a:r>
              <a:rPr lang="en-IN" sz="2000" dirty="0">
                <a:latin typeface="Times New Roman" panose="02020603050405020304" pitchFamily="18" charset="0"/>
                <a:cs typeface="Times New Roman" panose="02020603050405020304" pitchFamily="18" charset="0"/>
              </a:rPr>
              <a:t> The implementation should be structured and easy to modify.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Accuracy:</a:t>
            </a:r>
            <a:r>
              <a:rPr lang="en-IN" sz="2000" dirty="0">
                <a:latin typeface="Times New Roman" panose="02020603050405020304" pitchFamily="18" charset="0"/>
                <a:cs typeface="Times New Roman" panose="02020603050405020304" pitchFamily="18" charset="0"/>
              </a:rPr>
              <a:t> Recommended products should be relevant to user interests.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Efficiency:</a:t>
            </a:r>
            <a:r>
              <a:rPr lang="en-IN" sz="2000" dirty="0">
                <a:latin typeface="Times New Roman" panose="02020603050405020304" pitchFamily="18" charset="0"/>
                <a:cs typeface="Times New Roman" panose="02020603050405020304" pitchFamily="18" charset="0"/>
              </a:rPr>
              <a:t> Data preprocessing and recommendation generation should be performed efficiently.</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88019"/>
            <a:ext cx="8229600" cy="1143000"/>
          </a:xfrm>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3" name="Picture 2" descr="E-commerce Recommendation Pipeline Architecture"/>
          <p:cNvPicPr>
            <a:picLocks noChangeAspect="1"/>
          </p:cNvPicPr>
          <p:nvPr/>
        </p:nvPicPr>
        <p:blipFill>
          <a:blip r:embed="rId2"/>
          <a:srcRect t="5000" b="38333"/>
          <a:stretch>
            <a:fillRect/>
          </a:stretch>
        </p:blipFill>
        <p:spPr>
          <a:xfrm>
            <a:off x="762000" y="1676400"/>
            <a:ext cx="7853045" cy="38112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96907"/>
            <a:ext cx="8458200" cy="715962"/>
          </a:xfrm>
        </p:spPr>
        <p:txBody>
          <a:bodyPr>
            <a:normAutofit/>
          </a:bodyPr>
          <a:lstStyle/>
          <a:p>
            <a:r>
              <a:rPr lang="en-US" b="1" dirty="0">
                <a:solidFill>
                  <a:srgbClr val="0070C0"/>
                </a:solidFill>
                <a:latin typeface="Times New Roman" panose="02020603050405020304" pitchFamily="18" charset="0"/>
                <a:cs typeface="Times New Roman" panose="02020603050405020304" pitchFamily="18" charset="0"/>
              </a:rPr>
              <a:t>UML Diagram</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6" name="Picture 5"/>
          <p:cNvPicPr>
            <a:picLocks noChangeAspect="1"/>
          </p:cNvPicPr>
          <p:nvPr/>
        </p:nvPicPr>
        <p:blipFill>
          <a:blip r:embed="rId2"/>
          <a:stretch>
            <a:fillRect/>
          </a:stretch>
        </p:blipFill>
        <p:spPr>
          <a:xfrm>
            <a:off x="933450" y="1447800"/>
            <a:ext cx="7658100" cy="5105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42810"/>
            <a:ext cx="8229600" cy="655638"/>
          </a:xfrm>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Methodology</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295400"/>
            <a:ext cx="8305800" cy="5486400"/>
          </a:xfrm>
        </p:spPr>
        <p:txBody>
          <a:bodyPr>
            <a:noAutofit/>
          </a:bodyPr>
          <a:lstStyle/>
          <a:p>
            <a:pPr algn="just"/>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Collect user and product activity data:</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Gather information about user interactions, product details, views, clicks, and purchase history.</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Clean and preprocess the data:</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Remove missing values, duplicates, and unnecessary data. Convert the data into a suitable format for analysis.</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err="1">
                <a:latin typeface="Times New Roman" panose="02020603050405020304" pitchFamily="18" charset="0"/>
                <a:cs typeface="Times New Roman" panose="02020603050405020304" pitchFamily="18" charset="0"/>
              </a:rPr>
              <a:t>Analyze</a:t>
            </a:r>
            <a:r>
              <a:rPr lang="en-IN" sz="1600" b="1" dirty="0">
                <a:latin typeface="Times New Roman" panose="02020603050405020304" pitchFamily="18" charset="0"/>
                <a:cs typeface="Times New Roman" panose="02020603050405020304" pitchFamily="18" charset="0"/>
              </a:rPr>
              <a:t> customer interests and preferences: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Study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to understand their interests and identify products they may prefer.</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Generate and rank relevant product recommendations: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Use recommendation algorithms to find suitable products and rank them based on user preferences and product relevance.</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Display personalized recommendations: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Present the recommended products to users through the e-commerce platform to improve product discovery and shopping experience.</a:t>
            </a:r>
            <a:endParaRPr lang="en-IN" sz="1600"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95300"/>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Technologies</a:t>
            </a:r>
            <a:r>
              <a:rPr lang="en-US" altLang="en-IN" b="1" dirty="0">
                <a:solidFill>
                  <a:srgbClr val="0070C0"/>
                </a:solidFill>
                <a:latin typeface="Times New Roman" panose="02020603050405020304" pitchFamily="18" charset="0"/>
                <a:cs typeface="Times New Roman" panose="02020603050405020304" pitchFamily="18" charset="0"/>
              </a:rPr>
              <a:t> and Tools</a:t>
            </a:r>
            <a:endParaRPr lang="en-US" alt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752600"/>
            <a:ext cx="8229600" cy="4525963"/>
          </a:xfrm>
        </p:spPr>
        <p:txBody>
          <a:bodyPr>
            <a:normAutofit fontScale="60000"/>
          </a:bodyPr>
          <a:lstStyle/>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1. Python</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Main programming language for data processing and recommendation logic.</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2. Apache Spark (PySpark)</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Processes large datasets and builds the recommendation model.</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3. ALS (Alternating Least Squares)</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Collaborative filtering algorithm used to recommend products based on user interactions.(matrix factorization model)</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4. Pandas and NumPy</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Data cleaning, manipulation, and numerical computations.</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5. HTML and CSS </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Build and style the web dashboard.</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6. Flask </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Connects the backend recommendation pipeline to the web interface.</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7. Matplotlib</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Creates graphs for event distribution, ratings, and top product categories.</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8. CSV files</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Store user, product, and interaction datasets.</a:t>
            </a:r>
            <a:endParaRPr lang="en-US" alt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b="1" dirty="0">
                <a:latin typeface="Times New Roman" panose="02020603050405020304" pitchFamily="18" charset="0"/>
                <a:cs typeface="Times New Roman" panose="02020603050405020304" pitchFamily="18" charset="0"/>
                <a:sym typeface="+mn-ea"/>
              </a:rPr>
              <a:t>9. YAML</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000" dirty="0">
                <a:latin typeface="Times New Roman" panose="02020603050405020304" pitchFamily="18" charset="0"/>
                <a:cs typeface="Times New Roman" panose="02020603050405020304" pitchFamily="18" charset="0"/>
                <a:sym typeface="+mn-ea"/>
              </a:rPr>
              <a:t>Stores project configuration settings.</a:t>
            </a:r>
            <a:endParaRPr lang="en-US" altLang="en-US" sz="2000" dirty="0">
              <a:latin typeface="Times New Roman" panose="02020603050405020304" pitchFamily="18" charset="0"/>
              <a:cs typeface="Times New Roman" panose="02020603050405020304" pitchFamily="18" charset="0"/>
            </a:endParaRPr>
          </a:p>
          <a:p>
            <a:pPr algn="just">
              <a:lnSpc>
                <a:spcPct val="100000"/>
              </a:lnSpc>
            </a:pP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Implementation</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6" name="Content Placeholder 5"/>
          <p:cNvPicPr>
            <a:picLocks noGrp="1" noChangeAspect="1"/>
          </p:cNvPicPr>
          <p:nvPr>
            <p:ph idx="1"/>
          </p:nvPr>
        </p:nvPicPr>
        <p:blipFill>
          <a:blip r:embed="rId2"/>
          <a:stretch>
            <a:fillRect/>
          </a:stretch>
        </p:blipFill>
        <p:spPr>
          <a:xfrm>
            <a:off x="609600" y="1514267"/>
            <a:ext cx="8088728" cy="50482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Implementation</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6" name="Content Placeholder 5"/>
          <p:cNvPicPr>
            <a:picLocks noGrp="1" noChangeAspect="1"/>
          </p:cNvPicPr>
          <p:nvPr>
            <p:ph idx="1"/>
          </p:nvPr>
        </p:nvPicPr>
        <p:blipFill>
          <a:blip r:embed="rId2"/>
          <a:stretch>
            <a:fillRect/>
          </a:stretch>
        </p:blipFill>
        <p:spPr>
          <a:xfrm>
            <a:off x="533400" y="1371600"/>
            <a:ext cx="8077200" cy="50462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6907"/>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Functionality/Flow Diagram</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16" name="Picture 15"/>
          <p:cNvPicPr>
            <a:picLocks noChangeAspect="1"/>
          </p:cNvPicPr>
          <p:nvPr/>
        </p:nvPicPr>
        <p:blipFill>
          <a:blip r:embed="rId2"/>
          <a:stretch>
            <a:fillRect/>
          </a:stretch>
        </p:blipFill>
        <p:spPr>
          <a:xfrm>
            <a:off x="1752600" y="1536692"/>
            <a:ext cx="6140870" cy="4724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8" y="856358"/>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Results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304800" y="1582738"/>
            <a:ext cx="8458200" cy="4818062"/>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8" y="856358"/>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Results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9" name="Picture 8"/>
          <p:cNvPicPr>
            <a:picLocks noChangeAspect="1"/>
          </p:cNvPicPr>
          <p:nvPr/>
        </p:nvPicPr>
        <p:blipFill>
          <a:blip r:embed="rId2"/>
          <a:srcRect t="2095" r="1755"/>
          <a:stretch>
            <a:fillRect/>
          </a:stretch>
        </p:blipFill>
        <p:spPr>
          <a:xfrm>
            <a:off x="345350" y="1447800"/>
            <a:ext cx="8534400" cy="486465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458200" cy="715962"/>
          </a:xfrm>
        </p:spPr>
        <p:txBody>
          <a:bodyPr>
            <a:normAutofit fontScale="90000"/>
          </a:bodyPr>
          <a:lstStyle/>
          <a:p>
            <a:r>
              <a:rPr lang="en-IN" sz="3700" b="1" dirty="0">
                <a:solidFill>
                  <a:srgbClr val="0070C0"/>
                </a:solidFill>
                <a:latin typeface="Times New Roman" panose="02020603050405020304" pitchFamily="18" charset="0"/>
                <a:cs typeface="Times New Roman" panose="02020603050405020304" pitchFamily="18" charset="0"/>
              </a:rPr>
              <a:t>Comparison</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10" name="Picture 9"/>
          <p:cNvPicPr>
            <a:picLocks noChangeAspect="1"/>
          </p:cNvPicPr>
          <p:nvPr/>
        </p:nvPicPr>
        <p:blipFill>
          <a:blip r:embed="rId2"/>
          <a:stretch>
            <a:fillRect/>
          </a:stretch>
        </p:blipFill>
        <p:spPr>
          <a:xfrm>
            <a:off x="762000" y="1219200"/>
            <a:ext cx="8001000" cy="533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17541"/>
            <a:ext cx="8458200" cy="715962"/>
          </a:xfrm>
        </p:spPr>
        <p:txBody>
          <a:bodyPr>
            <a:normAutofit fontScale="90000"/>
          </a:bodyPr>
          <a:lstStyle/>
          <a:p>
            <a:r>
              <a:rPr lang="en-IN" sz="3700" b="1" dirty="0">
                <a:solidFill>
                  <a:srgbClr val="0070C0"/>
                </a:solidFill>
                <a:latin typeface="Times New Roman" panose="02020603050405020304" pitchFamily="18" charset="0"/>
                <a:cs typeface="Times New Roman" panose="02020603050405020304" pitchFamily="18" charset="0"/>
              </a:rPr>
              <a:t>Comparison </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4" name="Content Placeholder 3"/>
          <p:cNvSpPr>
            <a:spLocks noGrp="1"/>
          </p:cNvSpPr>
          <p:nvPr>
            <p:ph idx="1"/>
          </p:nvPr>
        </p:nvSpPr>
        <p:spPr/>
        <p: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937895" y="1600200"/>
            <a:ext cx="7801610" cy="42322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458200" cy="715962"/>
          </a:xfrm>
        </p:spPr>
        <p:txBody>
          <a:bodyPr>
            <a:normAutofit fontScale="90000"/>
          </a:bodyPr>
          <a:lstStyle/>
          <a:p>
            <a:r>
              <a:rPr lang="en-IN" sz="3700" b="1" dirty="0">
                <a:solidFill>
                  <a:srgbClr val="0070C0"/>
                </a:solidFill>
                <a:latin typeface="Times New Roman" panose="02020603050405020304" pitchFamily="18" charset="0"/>
                <a:cs typeface="Times New Roman" panose="02020603050405020304" pitchFamily="18" charset="0"/>
              </a:rPr>
              <a:t>Discussion</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graphicFrame>
        <p:nvGraphicFramePr>
          <p:cNvPr id="3" name="Table 2"/>
          <p:cNvGraphicFramePr/>
          <p:nvPr/>
        </p:nvGraphicFramePr>
        <p:xfrm>
          <a:off x="664845" y="1796415"/>
          <a:ext cx="8124190" cy="3858895"/>
        </p:xfrm>
        <a:graphic>
          <a:graphicData uri="http://schemas.openxmlformats.org/drawingml/2006/table">
            <a:tbl>
              <a:tblPr>
                <a:tableStyleId>{5940675A-B579-460E-94D1-54222C63F5DA}</a:tableStyleId>
              </a:tblPr>
              <a:tblGrid>
                <a:gridCol w="2313940"/>
                <a:gridCol w="2970530"/>
                <a:gridCol w="2839720"/>
              </a:tblGrid>
              <a:tr h="375285">
                <a:tc>
                  <a:txBody>
                    <a:bodyPr/>
                    <a:p>
                      <a:r>
                        <a:rPr lang="en-US" sz="1400">
                          <a:solidFill>
                            <a:schemeClr val="bg1"/>
                          </a:solidFill>
                          <a:latin typeface="Times New Roman" panose="02020603050405020304" pitchFamily="18" charset="0"/>
                          <a:cs typeface="Times New Roman" panose="02020603050405020304" pitchFamily="18" charset="0"/>
                        </a:rPr>
                        <a:t>Point</a:t>
                      </a:r>
                      <a:endParaRPr lang="en-US" sz="1400">
                        <a:solidFill>
                          <a:schemeClr val="bg1"/>
                        </a:solidFill>
                        <a:latin typeface="Times New Roman" panose="02020603050405020304" pitchFamily="18" charset="0"/>
                        <a:cs typeface="Times New Roman" panose="02020603050405020304" pitchFamily="18" charset="0"/>
                      </a:endParaRPr>
                    </a:p>
                  </a:txBody>
                  <a:tcPr marL="0" marR="0" marT="0" marB="0" anchor="ctr" anchorCtr="0">
                    <a:solidFill>
                      <a:schemeClr val="tx2"/>
                    </a:solidFill>
                  </a:tcPr>
                </a:tc>
                <a:tc>
                  <a:txBody>
                    <a:bodyPr/>
                    <a:p>
                      <a:r>
                        <a:rPr sz="1400">
                          <a:solidFill>
                            <a:schemeClr val="bg1"/>
                          </a:solidFill>
                          <a:latin typeface="Times New Roman" panose="02020603050405020304" pitchFamily="18" charset="0"/>
                          <a:cs typeface="Times New Roman" panose="02020603050405020304" pitchFamily="18" charset="0"/>
                        </a:rPr>
                        <a:t>Amazon-style system (existing)</a:t>
                      </a:r>
                      <a:endParaRPr sz="1400">
                        <a:solidFill>
                          <a:schemeClr val="bg1"/>
                        </a:solidFill>
                        <a:latin typeface="Times New Roman" panose="02020603050405020304" pitchFamily="18" charset="0"/>
                        <a:cs typeface="Times New Roman" panose="02020603050405020304" pitchFamily="18" charset="0"/>
                      </a:endParaRPr>
                    </a:p>
                  </a:txBody>
                  <a:tcPr marL="0" marR="0" marT="0" marB="0" anchor="ctr" anchorCtr="0">
                    <a:solidFill>
                      <a:schemeClr val="tx2"/>
                    </a:solidFill>
                  </a:tcPr>
                </a:tc>
                <a:tc>
                  <a:txBody>
                    <a:bodyPr/>
                    <a:p>
                      <a:r>
                        <a:rPr sz="1400">
                          <a:solidFill>
                            <a:schemeClr val="bg1"/>
                          </a:solidFill>
                          <a:latin typeface="Times New Roman" panose="02020603050405020304" pitchFamily="18" charset="0"/>
                          <a:cs typeface="Times New Roman" panose="02020603050405020304" pitchFamily="18" charset="0"/>
                        </a:rPr>
                        <a:t>Our system (ALS, synthetic data)</a:t>
                      </a:r>
                      <a:endParaRPr sz="1400">
                        <a:solidFill>
                          <a:schemeClr val="bg1"/>
                        </a:solidFill>
                        <a:latin typeface="Times New Roman" panose="02020603050405020304" pitchFamily="18" charset="0"/>
                        <a:cs typeface="Times New Roman" panose="02020603050405020304" pitchFamily="18" charset="0"/>
                      </a:endParaRPr>
                    </a:p>
                  </a:txBody>
                  <a:tcPr marL="0" marR="0" marT="0" marB="0" anchor="ctr" anchorCtr="0">
                    <a:solidFill>
                      <a:schemeClr val="tx2"/>
                    </a:solidFill>
                  </a:tcPr>
                </a:tc>
              </a:tr>
              <a:tr h="679450">
                <a:tc>
                  <a:txBody>
                    <a:bodyPr/>
                    <a:p>
                      <a:r>
                        <a:rPr sz="1400">
                          <a:latin typeface="Times New Roman" panose="02020603050405020304" pitchFamily="18" charset="0"/>
                          <a:cs typeface="Times New Roman" panose="02020603050405020304" pitchFamily="18" charset="0"/>
                        </a:rPr>
                        <a:t>How it recommends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"People who bought this also bought that"</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Learns each user's taste and predicts what they'll like</a:t>
                      </a:r>
                      <a:endParaRPr sz="1400">
                        <a:latin typeface="Times New Roman" panose="02020603050405020304" pitchFamily="18" charset="0"/>
                        <a:cs typeface="Times New Roman" panose="02020603050405020304" pitchFamily="18" charset="0"/>
                      </a:endParaRPr>
                    </a:p>
                  </a:txBody>
                  <a:tcPr marL="0" marR="0" marT="0" marB="0" anchor="ctr" anchorCtr="0"/>
                </a:tc>
              </a:tr>
              <a:tr h="339725">
                <a:tc>
                  <a:txBody>
                    <a:bodyPr/>
                    <a:p>
                      <a:r>
                        <a:rPr sz="1400">
                          <a:latin typeface="Times New Roman" panose="02020603050405020304" pitchFamily="18" charset="0"/>
                          <a:cs typeface="Times New Roman" panose="02020603050405020304" pitchFamily="18" charset="0"/>
                        </a:rPr>
                        <a:t>Speed (2K records)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Slower, about 3.8 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Faster, about 1.1 s*</a:t>
                      </a:r>
                      <a:endParaRPr sz="1400">
                        <a:latin typeface="Times New Roman" panose="02020603050405020304" pitchFamily="18" charset="0"/>
                        <a:cs typeface="Times New Roman" panose="02020603050405020304" pitchFamily="18" charset="0"/>
                      </a:endParaRPr>
                    </a:p>
                  </a:txBody>
                  <a:tcPr marL="0" marR="0" marT="0" marB="0" anchor="ctr" anchorCtr="0"/>
                </a:tc>
              </a:tr>
              <a:tr h="339090">
                <a:tc>
                  <a:txBody>
                    <a:bodyPr/>
                    <a:p>
                      <a:r>
                        <a:rPr sz="1400">
                          <a:latin typeface="Times New Roman" panose="02020603050405020304" pitchFamily="18" charset="0"/>
                          <a:cs typeface="Times New Roman" panose="02020603050405020304" pitchFamily="18" charset="0"/>
                        </a:rPr>
                        <a:t>Records per second</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About 520*</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About 1,790*</a:t>
                      </a:r>
                      <a:endParaRPr sz="1400">
                        <a:latin typeface="Times New Roman" panose="02020603050405020304" pitchFamily="18" charset="0"/>
                        <a:cs typeface="Times New Roman" panose="02020603050405020304" pitchFamily="18" charset="0"/>
                      </a:endParaRPr>
                    </a:p>
                  </a:txBody>
                  <a:tcPr marL="0" marR="0" marT="0" marB="0" anchor="ctr" anchorCtr="0"/>
                </a:tc>
              </a:tr>
              <a:tr h="339725">
                <a:tc>
                  <a:txBody>
                    <a:bodyPr/>
                    <a:p>
                      <a:r>
                        <a:rPr sz="1400">
                          <a:latin typeface="Times New Roman" panose="02020603050405020304" pitchFamily="18" charset="0"/>
                          <a:cs typeface="Times New Roman" panose="02020603050405020304" pitchFamily="18" charset="0"/>
                        </a:rPr>
                        <a:t>Prediction error (RMSE)</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Higher (about 1.75)*</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Lower (about 1.45)*</a:t>
                      </a:r>
                      <a:endParaRPr sz="1400">
                        <a:latin typeface="Times New Roman" panose="02020603050405020304" pitchFamily="18" charset="0"/>
                        <a:cs typeface="Times New Roman" panose="02020603050405020304" pitchFamily="18" charset="0"/>
                      </a:endParaRPr>
                    </a:p>
                  </a:txBody>
                  <a:tcPr marL="0" marR="0" marT="0" marB="0" anchor="ctr" anchorCtr="0"/>
                </a:tc>
              </a:tr>
              <a:tr h="339090">
                <a:tc>
                  <a:txBody>
                    <a:bodyPr/>
                    <a:p>
                      <a:r>
                        <a:rPr sz="1400">
                          <a:latin typeface="Times New Roman" panose="02020603050405020304" pitchFamily="18" charset="0"/>
                          <a:cs typeface="Times New Roman" panose="02020603050405020304" pitchFamily="18" charset="0"/>
                        </a:rPr>
                        <a:t>Correct recommendations in top 10</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About 1 in 1,000*</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About 4 in 1,000*</a:t>
                      </a:r>
                      <a:endParaRPr sz="1400">
                        <a:latin typeface="Times New Roman" panose="02020603050405020304" pitchFamily="18" charset="0"/>
                        <a:cs typeface="Times New Roman" panose="02020603050405020304" pitchFamily="18" charset="0"/>
                      </a:endParaRPr>
                    </a:p>
                  </a:txBody>
                  <a:tcPr marL="0" marR="0" marT="0" marB="0" anchor="ctr" anchorCtr="0"/>
                </a:tc>
              </a:tr>
              <a:tr h="339725">
                <a:tc>
                  <a:txBody>
                    <a:bodyPr/>
                    <a:p>
                      <a:r>
                        <a:rPr sz="1400">
                          <a:latin typeface="Times New Roman" panose="02020603050405020304" pitchFamily="18" charset="0"/>
                          <a:cs typeface="Times New Roman" panose="02020603050405020304" pitchFamily="18" charset="0"/>
                        </a:rPr>
                        <a:t>Data cleaning</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Done by hand, partly*</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Done automatically</a:t>
                      </a:r>
                      <a:endParaRPr sz="1400">
                        <a:latin typeface="Times New Roman" panose="02020603050405020304" pitchFamily="18" charset="0"/>
                        <a:cs typeface="Times New Roman" panose="02020603050405020304" pitchFamily="18" charset="0"/>
                      </a:endParaRPr>
                    </a:p>
                  </a:txBody>
                  <a:tcPr marL="0" marR="0" marT="0" marB="0" anchor="ctr" anchorCtr="0"/>
                </a:tc>
              </a:tr>
              <a:tr h="340360">
                <a:tc>
                  <a:txBody>
                    <a:bodyPr/>
                    <a:p>
                      <a:r>
                        <a:rPr sz="1400">
                          <a:latin typeface="Times New Roman" panose="02020603050405020304" pitchFamily="18" charset="0"/>
                          <a:cs typeface="Times New Roman" panose="02020603050405020304" pitchFamily="18" charset="0"/>
                        </a:rPr>
                        <a:t>Personalization</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Mostly same picks for many people</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Different picks for each user</a:t>
                      </a:r>
                      <a:endParaRPr sz="1400">
                        <a:latin typeface="Times New Roman" panose="02020603050405020304" pitchFamily="18" charset="0"/>
                        <a:cs typeface="Times New Roman" panose="02020603050405020304" pitchFamily="18" charset="0"/>
                      </a:endParaRPr>
                    </a:p>
                  </a:txBody>
                  <a:tcPr marL="0" marR="0" marT="0" marB="0" anchor="ctr" anchorCtr="0"/>
                </a:tc>
              </a:tr>
              <a:tr h="678815">
                <a:tc>
                  <a:txBody>
                    <a:bodyPr/>
                    <a:p>
                      <a:r>
                        <a:rPr sz="1400">
                          <a:latin typeface="Times New Roman" panose="02020603050405020304" pitchFamily="18" charset="0"/>
                          <a:cs typeface="Times New Roman" panose="02020603050405020304" pitchFamily="18" charset="0"/>
                        </a:rPr>
                        <a:t>New users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Struggles, shows popular items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r>
                        <a:rPr sz="1400">
                          <a:latin typeface="Times New Roman" panose="02020603050405020304" pitchFamily="18" charset="0"/>
                          <a:cs typeface="Times New Roman" panose="02020603050405020304" pitchFamily="18" charset="0"/>
                        </a:rPr>
                        <a:t>Also needs some data, but learns quickly once they rate items</a:t>
                      </a:r>
                      <a:endParaRPr sz="1400">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8819"/>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Conclusion</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458200" cy="5275957"/>
          </a:xfrm>
        </p:spPr>
        <p:txBody>
          <a:bodyPr>
            <a:noAutofit/>
          </a:bodyPr>
          <a:lstStyle/>
          <a:p>
            <a:pPr algn="just">
              <a:lnSpc>
                <a:spcPct val="150000"/>
              </a:lnSpc>
            </a:pPr>
            <a:r>
              <a:rPr lang="en-IN" sz="1800" dirty="0">
                <a:latin typeface="Times New Roman" panose="02020603050405020304" pitchFamily="18" charset="0"/>
                <a:cs typeface="Times New Roman" panose="02020603050405020304" pitchFamily="18" charset="0"/>
              </a:rPr>
              <a:t>The E-Commerce Recommendation Pipeline provides a structured approach for generating personalized product recommendations.</a:t>
            </a: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algn="just">
              <a:lnSpc>
                <a:spcPct val="150000"/>
              </a:lnSpc>
            </a:pPr>
            <a:r>
              <a:rPr lang="en-IN" sz="1800" dirty="0">
                <a:latin typeface="Times New Roman" panose="02020603050405020304" pitchFamily="18" charset="0"/>
                <a:cs typeface="Times New Roman" panose="02020603050405020304" pitchFamily="18" charset="0"/>
              </a:rPr>
              <a:t>The system collects user and product activity data, cleans and preprocesses the information,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customer interests, identifies relevant products, and ranks them according to user preferences and product relevance.</a:t>
            </a: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algn="just">
              <a:lnSpc>
                <a:spcPct val="150000"/>
              </a:lnSpc>
            </a:pPr>
            <a:r>
              <a:rPr lang="en-IN" sz="1800" dirty="0">
                <a:latin typeface="Times New Roman" panose="02020603050405020304" pitchFamily="18" charset="0"/>
                <a:cs typeface="Times New Roman" panose="02020603050405020304" pitchFamily="18" charset="0"/>
              </a:rPr>
              <a:t>The project demonstrates how data processing and recommendation techniques can be used to improve product discovery, personalization, and customer experience in e-commerce platforms.</a:t>
            </a:r>
            <a:endParaRPr lang="en-IN" sz="1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473" y="708819"/>
            <a:ext cx="8458200" cy="715962"/>
          </a:xfrm>
        </p:spPr>
        <p:txBody>
          <a:bodyPr>
            <a:normAutofit fontScale="90000"/>
          </a:bodyPr>
          <a:lstStyle/>
          <a:p>
            <a:r>
              <a:rPr lang="en-IN" b="1" dirty="0">
                <a:solidFill>
                  <a:srgbClr val="0070C0"/>
                </a:solidFill>
                <a:latin typeface="Times New Roman" panose="02020603050405020304" pitchFamily="18" charset="0"/>
                <a:cs typeface="Times New Roman" panose="02020603050405020304" pitchFamily="18" charset="0"/>
              </a:rPr>
              <a:t>References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49385"/>
            <a:ext cx="8360229" cy="4851415"/>
          </a:xfrm>
        </p:spPr>
        <p:txBody>
          <a:bodyPr>
            <a:noAutofit/>
          </a:bodyPr>
          <a:lstStyle/>
          <a:p>
            <a:pPr lvl="0" algn="just"/>
            <a:r>
              <a:rPr lang="en-IN" sz="2000" b="1" dirty="0" err="1">
                <a:latin typeface="Times New Roman" panose="02020603050405020304" pitchFamily="18" charset="0"/>
                <a:cs typeface="Times New Roman" panose="02020603050405020304" pitchFamily="18" charset="0"/>
              </a:rPr>
              <a:t>Adomavicius</a:t>
            </a:r>
            <a:r>
              <a:rPr lang="en-IN" sz="2000" b="1" dirty="0">
                <a:latin typeface="Times New Roman" panose="02020603050405020304" pitchFamily="18" charset="0"/>
                <a:cs typeface="Times New Roman" panose="02020603050405020304" pitchFamily="18" charset="0"/>
              </a:rPr>
              <a:t> &amp; </a:t>
            </a:r>
            <a:r>
              <a:rPr lang="en-IN" sz="2000" b="1" dirty="0" err="1">
                <a:latin typeface="Times New Roman" panose="02020603050405020304" pitchFamily="18" charset="0"/>
                <a:cs typeface="Times New Roman" panose="02020603050405020304" pitchFamily="18" charset="0"/>
              </a:rPr>
              <a:t>Tuzhilin</a:t>
            </a:r>
            <a:r>
              <a:rPr lang="en-IN" sz="2000" b="1" dirty="0">
                <a:latin typeface="Times New Roman" panose="02020603050405020304" pitchFamily="18" charset="0"/>
                <a:cs typeface="Times New Roman" panose="02020603050405020304" pitchFamily="18" charset="0"/>
              </a:rPr>
              <a:t> (2005):</a:t>
            </a:r>
            <a:r>
              <a:rPr lang="en-IN" sz="2000" dirty="0">
                <a:latin typeface="Times New Roman" panose="02020603050405020304" pitchFamily="18" charset="0"/>
                <a:cs typeface="Times New Roman" panose="02020603050405020304" pitchFamily="18" charset="0"/>
              </a:rPr>
              <a:t> Surveyed recommender systems and their evolution.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Linden et al. (2003):</a:t>
            </a:r>
            <a:r>
              <a:rPr lang="en-IN" sz="2000" dirty="0">
                <a:latin typeface="Times New Roman" panose="02020603050405020304" pitchFamily="18" charset="0"/>
                <a:cs typeface="Times New Roman" panose="02020603050405020304" pitchFamily="18" charset="0"/>
              </a:rPr>
              <a:t> Introduced Amazon’s item-to-item recommendation approach.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Hu et al. (2008):</a:t>
            </a:r>
            <a:r>
              <a:rPr lang="en-IN" sz="2000" dirty="0">
                <a:latin typeface="Times New Roman" panose="02020603050405020304" pitchFamily="18" charset="0"/>
                <a:cs typeface="Times New Roman" panose="02020603050405020304" pitchFamily="18" charset="0"/>
              </a:rPr>
              <a:t> Focused on recommendations using implicit user feedback.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Koren et al. (2009):</a:t>
            </a:r>
            <a:r>
              <a:rPr lang="en-IN" sz="2000" dirty="0">
                <a:latin typeface="Times New Roman" panose="02020603050405020304" pitchFamily="18" charset="0"/>
                <a:cs typeface="Times New Roman" panose="02020603050405020304" pitchFamily="18" charset="0"/>
              </a:rPr>
              <a:t> Explained matrix factorization for personalized recommendations.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Covington et al. (2016):</a:t>
            </a:r>
            <a:r>
              <a:rPr lang="en-IN" sz="2000" dirty="0">
                <a:latin typeface="Times New Roman" panose="02020603050405020304" pitchFamily="18" charset="0"/>
                <a:cs typeface="Times New Roman" panose="02020603050405020304" pitchFamily="18" charset="0"/>
              </a:rPr>
              <a:t> Applied deep learning to YouTube recommendations. </a:t>
            </a:r>
            <a:endParaRPr lang="en-IN" sz="2000" dirty="0">
              <a:latin typeface="Times New Roman" panose="02020603050405020304" pitchFamily="18" charset="0"/>
              <a:cs typeface="Times New Roman" panose="02020603050405020304" pitchFamily="18" charset="0"/>
            </a:endParaRPr>
          </a:p>
          <a:p>
            <a:pPr lvl="0" algn="just"/>
            <a:r>
              <a:rPr lang="en-IN" sz="2000" b="1" dirty="0">
                <a:latin typeface="Times New Roman" panose="02020603050405020304" pitchFamily="18" charset="0"/>
                <a:cs typeface="Times New Roman" panose="02020603050405020304" pitchFamily="18" charset="0"/>
              </a:rPr>
              <a:t>He et al. (2017):</a:t>
            </a:r>
            <a:r>
              <a:rPr lang="en-IN" sz="2000" dirty="0">
                <a:latin typeface="Times New Roman" panose="02020603050405020304" pitchFamily="18" charset="0"/>
                <a:cs typeface="Times New Roman" panose="02020603050405020304" pitchFamily="18" charset="0"/>
              </a:rPr>
              <a:t> Proposed neural collaborative filtering for better recommendations.</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66219"/>
            <a:ext cx="5943600" cy="1325562"/>
          </a:xfrm>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THANK YOU</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12322</Words>
  <Application>WPS Presentation</Application>
  <PresentationFormat>On-screen Show (4:3)</PresentationFormat>
  <Paragraphs>364</Paragraphs>
  <Slides>29</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Arial</vt:lpstr>
      <vt:lpstr>SimSun</vt:lpstr>
      <vt:lpstr>Wingdings</vt:lpstr>
      <vt:lpstr>Times New Roman</vt:lpstr>
      <vt:lpstr>Aptos</vt:lpstr>
      <vt:lpstr>Segoe UI</vt:lpstr>
      <vt:lpstr>Calibri</vt:lpstr>
      <vt:lpstr>Microsoft YaHei</vt:lpstr>
      <vt:lpstr>Arial Unicode MS</vt:lpstr>
      <vt:lpstr>Times</vt:lpstr>
      <vt:lpstr>Office Theme</vt:lpstr>
      <vt:lpstr>    E - Commerce Recommendation pipeline      </vt:lpstr>
      <vt:lpstr>Table of contents</vt:lpstr>
      <vt:lpstr>Table of contents</vt:lpstr>
      <vt:lpstr>Abstract</vt:lpstr>
      <vt:lpstr>	Introduction</vt:lpstr>
      <vt:lpstr>Objectives </vt:lpstr>
      <vt:lpstr>Existing System</vt:lpstr>
      <vt:lpstr>Limitations of Existing System </vt:lpstr>
      <vt:lpstr>Proposed System </vt:lpstr>
      <vt:lpstr>Literature Survey</vt:lpstr>
      <vt:lpstr>Software Requirements </vt:lpstr>
      <vt:lpstr>Hardware Requirements </vt:lpstr>
      <vt:lpstr>Functional Requirements </vt:lpstr>
      <vt:lpstr>Non-Functional Requirements</vt:lpstr>
      <vt:lpstr>System Architecture</vt:lpstr>
      <vt:lpstr>UML Diagram</vt:lpstr>
      <vt:lpstr>Methodology</vt:lpstr>
      <vt:lpstr>Technologies and Tools</vt:lpstr>
      <vt:lpstr>Implementation</vt:lpstr>
      <vt:lpstr>Implementation</vt:lpstr>
      <vt:lpstr>Functionality/Flow Diagram</vt:lpstr>
      <vt:lpstr>Results </vt:lpstr>
      <vt:lpstr>Results </vt:lpstr>
      <vt:lpstr>Comparison </vt:lpstr>
      <vt:lpstr>Comparison  </vt:lpstr>
      <vt:lpstr>Discussion </vt:lpstr>
      <vt:lpstr>Conclusion</vt:lpstr>
      <vt:lpstr>References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sanuh</cp:lastModifiedBy>
  <cp:revision>219</cp:revision>
  <dcterms:created xsi:type="dcterms:W3CDTF">2006-08-16T00:00:00Z</dcterms:created>
  <dcterms:modified xsi:type="dcterms:W3CDTF">2026-10-26T16:47:21Z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19A5DC69D45F4734AE46EE54B3823440_12</vt:lpwstr>
  </property>
</Properties>
</file>