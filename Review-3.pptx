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86" r:id="rId3"/>
    <p:sldId id="288" r:id="rId5"/>
    <p:sldId id="287" r:id="rId6"/>
    <p:sldId id="289" r:id="rId7"/>
    <p:sldId id="306" r:id="rId8"/>
    <p:sldId id="291" r:id="rId9"/>
    <p:sldId id="292" r:id="rId10"/>
    <p:sldId id="293" r:id="rId11"/>
    <p:sldId id="294" r:id="rId12"/>
    <p:sldId id="313" r:id="rId13"/>
    <p:sldId id="321" r:id="rId14"/>
    <p:sldId id="323" r:id="rId15"/>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041" autoAdjust="0"/>
    <p:restoredTop sz="95033" autoAdjust="0"/>
  </p:normalViewPr>
  <p:slideViewPr>
    <p:cSldViewPr showGuides="1">
      <p:cViewPr varScale="1">
        <p:scale>
          <a:sx n="117" d="100"/>
          <a:sy n="117" d="100"/>
        </p:scale>
        <p:origin x="1008" y="10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630578FE-A624-4D92-B093-82C1BFA47D1F}" type="datetimeFigureOut">
              <a:rPr lang="en-US" smtClean="0"/>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382A2A7-8E58-4AA3-854C-AFDBFBEC253A}"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382A2A7-8E58-4AA3-854C-AFDBFBEC253A}"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32"/>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6"/>
            <a:ext cx="7772400" cy="1362075"/>
          </a:xfrm>
        </p:spPr>
        <p:txBody>
          <a:bodyPr anchor="t"/>
          <a:lstStyle>
            <a:lvl1pPr algn="l">
              <a:defRPr sz="3000" b="1" cap="all"/>
            </a:lvl1pPr>
          </a:lstStyle>
          <a:p>
            <a:r>
              <a:rPr lang="en-US"/>
              <a:t>Click to edit Master title style</a:t>
            </a:r>
            <a:endParaRPr lang="en-US"/>
          </a:p>
        </p:txBody>
      </p:sp>
      <p:sp>
        <p:nvSpPr>
          <p:cNvPr id="3" name="Text Placeholder 2"/>
          <p:cNvSpPr>
            <a:spLocks noGrp="1"/>
          </p:cNvSpPr>
          <p:nvPr>
            <p:ph type="body" idx="1"/>
          </p:nvPr>
        </p:nvSpPr>
        <p:spPr>
          <a:xfrm>
            <a:off x="722313" y="2906720"/>
            <a:ext cx="77724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6"/>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6"/>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3"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endParaRPr lang="en-US"/>
          </a:p>
        </p:txBody>
      </p:sp>
      <p:sp>
        <p:nvSpPr>
          <p:cNvPr id="4" name="Content Placeholder 3"/>
          <p:cNvSpPr>
            <a:spLocks noGrp="1"/>
          </p:cNvSpPr>
          <p:nvPr>
            <p:ph sz="half" idx="2"/>
          </p:nvPr>
        </p:nvSpPr>
        <p:spPr>
          <a:xfrm>
            <a:off x="457203"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9"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endParaRPr lang="en-US"/>
          </a:p>
        </p:txBody>
      </p:sp>
      <p:sp>
        <p:nvSpPr>
          <p:cNvPr id="6" name="Content Placeholder 5"/>
          <p:cNvSpPr>
            <a:spLocks noGrp="1"/>
          </p:cNvSpPr>
          <p:nvPr>
            <p:ph sz="quarter" idx="4"/>
          </p:nvPr>
        </p:nvSpPr>
        <p:spPr>
          <a:xfrm>
            <a:off x="4645029"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3" cy="1162050"/>
          </a:xfrm>
        </p:spPr>
        <p:txBody>
          <a:bodyPr anchor="b"/>
          <a:lstStyle>
            <a:lvl1pPr algn="l">
              <a:defRPr sz="1500" b="1"/>
            </a:lvl1pPr>
          </a:lstStyle>
          <a:p>
            <a:r>
              <a:rPr lang="en-US"/>
              <a:t>Click to edit Master title style</a:t>
            </a:r>
            <a:endParaRPr lang="en-US"/>
          </a:p>
        </p:txBody>
      </p:sp>
      <p:sp>
        <p:nvSpPr>
          <p:cNvPr id="3" name="Content Placeholder 2"/>
          <p:cNvSpPr>
            <a:spLocks noGrp="1"/>
          </p:cNvSpPr>
          <p:nvPr>
            <p:ph idx="1"/>
          </p:nvPr>
        </p:nvSpPr>
        <p:spPr>
          <a:xfrm>
            <a:off x="3575051" y="273057"/>
            <a:ext cx="5111751"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2" y="1435103"/>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15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5"/>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45"/>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6"/>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7"/>
            <a:ext cx="21336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7"/>
            <a:ext cx="28956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7"/>
            <a:ext cx="21336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557530" indent="-214630" algn="l" defTabSz="685800"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hyperlink" Target="http://www.klh.edu.in/" TargetMode="Externa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9" Type="http://schemas.openxmlformats.org/officeDocument/2006/relationships/hyperlink" Target="https://doi.org/10.1145/2959100.2959190" TargetMode="External"/><Relationship Id="rId8" Type="http://schemas.openxmlformats.org/officeDocument/2006/relationships/hyperlink" Target="https://oamonitor.ireland.openaire.eu/rpo/rcsi/search/publication?pid=10.1109%2Fmc.2009.263&amp;utm_source=chatgpt.com" TargetMode="External"/><Relationship Id="rId7" Type="http://schemas.openxmlformats.org/officeDocument/2006/relationships/hyperlink" Target="https://doi.org/10.1109/MC.2009.263" TargetMode="External"/><Relationship Id="rId6" Type="http://schemas.openxmlformats.org/officeDocument/2006/relationships/hyperlink" Target="https://cir.nii.ac.jp/crid/1363107368767620736?utm_source=chatgpt.com" TargetMode="External"/><Relationship Id="rId5" Type="http://schemas.openxmlformats.org/officeDocument/2006/relationships/hyperlink" Target="https://doi.org/10.1109/ICDM.2008.22" TargetMode="External"/><Relationship Id="rId4" Type="http://schemas.openxmlformats.org/officeDocument/2006/relationships/hyperlink" Target="https://ieeexplore.ieee.org/document/1167344?utm_source=chatgpt.com" TargetMode="External"/><Relationship Id="rId3" Type="http://schemas.openxmlformats.org/officeDocument/2006/relationships/hyperlink" Target="https://doi.org/10.1109/MIC.2003.1167344" TargetMode="External"/><Relationship Id="rId2" Type="http://schemas.openxmlformats.org/officeDocument/2006/relationships/hyperlink" Target="https://es.wikipedia.org/wiki/Sistema_de_recomendaci%C3%B3n?utm_source=chatgpt.com" TargetMode="External"/><Relationship Id="rId14" Type="http://schemas.openxmlformats.org/officeDocument/2006/relationships/slideLayout" Target="../slideLayouts/slideLayout2.xml"/><Relationship Id="rId13" Type="http://schemas.openxmlformats.org/officeDocument/2006/relationships/image" Target="../media/image1.png"/><Relationship Id="rId12" Type="http://schemas.openxmlformats.org/officeDocument/2006/relationships/hyperlink" Target="https://dl.acm.org/?utm_source=chatgpt.com" TargetMode="External"/><Relationship Id="rId11" Type="http://schemas.openxmlformats.org/officeDocument/2006/relationships/hyperlink" Target="https://doi.org/10.1145/3038912.3052569" TargetMode="External"/><Relationship Id="rId10" Type="http://schemas.openxmlformats.org/officeDocument/2006/relationships/hyperlink" Target="https://doi.org/10.1145/2959100.2959190?utm_source=chatgpt.com" TargetMode="External"/><Relationship Id="rId1" Type="http://schemas.openxmlformats.org/officeDocument/2006/relationships/hyperlink" Target="https://doi.org/10.1109/TKDE.2005.99" TargetMode="Externa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52575" y="383281"/>
            <a:ext cx="6134100" cy="934369"/>
          </a:xfrm>
        </p:spPr>
        <p:txBody>
          <a:bodyPr>
            <a:normAutofit fontScale="90000"/>
          </a:bodyPr>
          <a:lstStyle/>
          <a:p>
            <a:pPr>
              <a:defRPr/>
            </a:pPr>
            <a:br>
              <a:rPr lang="en-US" sz="1350" dirty="0">
                <a:latin typeface="Times New Roman" panose="02020603050405020304" pitchFamily="18" charset="0"/>
                <a:cs typeface="Times New Roman" panose="02020603050405020304" pitchFamily="18" charset="0"/>
              </a:rPr>
            </a:br>
            <a:br>
              <a:rPr lang="en-US" sz="1350" dirty="0">
                <a:latin typeface="Times New Roman" panose="02020603050405020304" pitchFamily="18" charset="0"/>
                <a:cs typeface="Times New Roman" panose="02020603050405020304" pitchFamily="18" charset="0"/>
              </a:rPr>
            </a:br>
            <a:br>
              <a:rPr lang="en-US" sz="1350" dirty="0">
                <a:latin typeface="Times New Roman" panose="02020603050405020304" pitchFamily="18" charset="0"/>
                <a:cs typeface="Times New Roman" panose="02020603050405020304" pitchFamily="18" charset="0"/>
              </a:rPr>
            </a:br>
            <a:br>
              <a:rPr lang="en-US" sz="1350" dirty="0">
                <a:latin typeface="Times New Roman" panose="02020603050405020304" pitchFamily="18" charset="0"/>
                <a:cs typeface="Times New Roman" panose="02020603050405020304" pitchFamily="18" charset="0"/>
              </a:rPr>
            </a:br>
            <a:r>
              <a:rPr lang="en-IN" sz="2800" b="1" dirty="0">
                <a:solidFill>
                  <a:srgbClr val="0070C0"/>
                </a:solidFill>
                <a:latin typeface="Times New Roman" panose="02020603050405020304" pitchFamily="18" charset="0"/>
                <a:cs typeface="Times New Roman" panose="02020603050405020304" pitchFamily="18" charset="0"/>
              </a:rPr>
              <a:t>E - Commerce Recommendation pipeline</a:t>
            </a:r>
            <a:br>
              <a:rPr lang="en-IN" sz="2800" b="1" dirty="0">
                <a:solidFill>
                  <a:srgbClr val="0070C0"/>
                </a:solidFill>
                <a:latin typeface="Times New Roman" panose="02020603050405020304" pitchFamily="18" charset="0"/>
                <a:cs typeface="Times New Roman" panose="02020603050405020304" pitchFamily="18" charset="0"/>
              </a:rPr>
            </a:br>
            <a:r>
              <a:rPr lang="en-IN" sz="2400" b="1" dirty="0">
                <a:latin typeface="Times New Roman" panose="02020603050405020304"/>
                <a:cs typeface="Times New Roman" panose="02020603050405020304"/>
              </a:rPr>
              <a:t>REVIEW</a:t>
            </a:r>
            <a:r>
              <a:rPr lang="en-IN" sz="2400" b="1" spc="-45" dirty="0">
                <a:latin typeface="Times New Roman" panose="02020603050405020304"/>
                <a:cs typeface="Times New Roman" panose="02020603050405020304"/>
              </a:rPr>
              <a:t> </a:t>
            </a:r>
            <a:r>
              <a:rPr lang="en-IN" sz="2400" b="1" dirty="0">
                <a:latin typeface="Times New Roman" panose="02020603050405020304"/>
                <a:cs typeface="Times New Roman" panose="02020603050405020304"/>
              </a:rPr>
              <a:t>–</a:t>
            </a:r>
            <a:r>
              <a:rPr lang="en-IN" sz="2400" b="1" spc="-5" dirty="0">
                <a:latin typeface="Times New Roman" panose="02020603050405020304"/>
                <a:cs typeface="Times New Roman" panose="02020603050405020304"/>
              </a:rPr>
              <a:t> </a:t>
            </a:r>
            <a:r>
              <a:rPr lang="en-IN" sz="2400" b="1" spc="-50" dirty="0">
                <a:latin typeface="Times New Roman" panose="02020603050405020304"/>
                <a:cs typeface="Times New Roman" panose="02020603050405020304"/>
              </a:rPr>
              <a:t>3</a:t>
            </a:r>
            <a:br>
              <a:rPr lang="en-US" sz="135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 </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 </a:t>
            </a:r>
            <a:br>
              <a:rPr lang="en-US" b="1" dirty="0"/>
            </a:br>
            <a:endParaRPr lang="en-US" sz="3000" b="1"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447800" y="1092564"/>
            <a:ext cx="6343650" cy="2799768"/>
          </a:xfrm>
        </p:spPr>
        <p:txBody>
          <a:bodyPr>
            <a:normAutofit fontScale="25000" lnSpcReduction="20000"/>
          </a:bodyPr>
          <a:lstStyle/>
          <a:p>
            <a:pPr>
              <a:lnSpc>
                <a:spcPct val="80000"/>
              </a:lnSpc>
              <a:defRPr/>
            </a:pPr>
            <a:endParaRPr lang="en-US" sz="1500" dirty="0">
              <a:solidFill>
                <a:srgbClr val="0D0D0D"/>
              </a:solidFill>
              <a:latin typeface="Times New Roman" panose="02020603050405020304" pitchFamily="18" charset="0"/>
              <a:cs typeface="Times New Roman" panose="02020603050405020304" pitchFamily="18" charset="0"/>
            </a:endParaRPr>
          </a:p>
          <a:p>
            <a:pPr>
              <a:lnSpc>
                <a:spcPct val="80000"/>
              </a:lnSpc>
              <a:defRPr/>
            </a:pPr>
            <a:endParaRPr lang="en-US" sz="8000" b="1" dirty="0">
              <a:solidFill>
                <a:schemeClr val="tx1"/>
              </a:solidFill>
              <a:latin typeface="Times New Roman" panose="02020603050405020304" pitchFamily="18" charset="0"/>
              <a:cs typeface="Times New Roman" panose="02020603050405020304" pitchFamily="18" charset="0"/>
            </a:endParaRPr>
          </a:p>
          <a:p>
            <a:pPr>
              <a:lnSpc>
                <a:spcPct val="80000"/>
              </a:lnSpc>
              <a:defRPr/>
            </a:pPr>
            <a:r>
              <a:rPr lang="en-US" sz="5600" b="1" dirty="0">
                <a:solidFill>
                  <a:schemeClr val="tx1"/>
                </a:solidFill>
                <a:latin typeface="Times New Roman" panose="02020603050405020304" pitchFamily="18" charset="0"/>
                <a:cs typeface="Times New Roman" panose="02020603050405020304" pitchFamily="18" charset="0"/>
              </a:rPr>
              <a:t>Batch 19 - Section 4</a:t>
            </a:r>
            <a:endParaRPr lang="en-US" sz="5600" b="1" dirty="0">
              <a:solidFill>
                <a:schemeClr val="tx1"/>
              </a:solidFill>
              <a:latin typeface="Times New Roman" panose="02020603050405020304" pitchFamily="18" charset="0"/>
              <a:cs typeface="Times New Roman" panose="02020603050405020304" pitchFamily="18" charset="0"/>
            </a:endParaRPr>
          </a:p>
          <a:p>
            <a:pPr>
              <a:lnSpc>
                <a:spcPct val="80000"/>
              </a:lnSpc>
              <a:defRPr/>
            </a:pPr>
            <a:endParaRPr lang="en-US" sz="6400" b="1" dirty="0">
              <a:solidFill>
                <a:schemeClr val="tx1"/>
              </a:solidFill>
              <a:latin typeface="Times New Roman" panose="02020603050405020304" pitchFamily="18" charset="0"/>
              <a:cs typeface="Times New Roman" panose="02020603050405020304" pitchFamily="18" charset="0"/>
            </a:endParaRPr>
          </a:p>
          <a:p>
            <a:pPr>
              <a:lnSpc>
                <a:spcPct val="80000"/>
              </a:lnSpc>
              <a:defRPr/>
            </a:pPr>
            <a:r>
              <a:rPr lang="en-US" sz="6400" b="1" dirty="0">
                <a:solidFill>
                  <a:srgbClr val="0070C0"/>
                </a:solidFill>
                <a:latin typeface="Times New Roman" panose="02020603050405020304" pitchFamily="18" charset="0"/>
                <a:cs typeface="Times New Roman" panose="02020603050405020304" pitchFamily="18" charset="0"/>
              </a:rPr>
              <a:t> </a:t>
            </a:r>
            <a:r>
              <a:rPr lang="en-US" sz="7200" b="1" dirty="0">
                <a:solidFill>
                  <a:srgbClr val="0070C0"/>
                </a:solidFill>
                <a:latin typeface="Times New Roman" panose="02020603050405020304" pitchFamily="18" charset="0"/>
                <a:cs typeface="Times New Roman" panose="02020603050405020304" pitchFamily="18" charset="0"/>
              </a:rPr>
              <a:t>Team members</a:t>
            </a:r>
            <a:endParaRPr lang="en-US" sz="6400" b="1" dirty="0">
              <a:solidFill>
                <a:schemeClr val="tx1"/>
              </a:solidFill>
              <a:latin typeface="Times New Roman" panose="02020603050405020304" pitchFamily="18" charset="0"/>
              <a:cs typeface="Times New Roman" panose="02020603050405020304" pitchFamily="18" charset="0"/>
            </a:endParaRPr>
          </a:p>
          <a:p>
            <a:pPr>
              <a:lnSpc>
                <a:spcPct val="80000"/>
              </a:lnSpc>
              <a:defRPr/>
            </a:pPr>
            <a:endParaRPr lang="en-US" sz="4900" b="1" dirty="0">
              <a:solidFill>
                <a:srgbClr val="00B0F0"/>
              </a:solidFill>
              <a:latin typeface="Times New Roman" panose="02020603050405020304" pitchFamily="18" charset="0"/>
              <a:cs typeface="Times New Roman" panose="02020603050405020304" pitchFamily="18" charset="0"/>
            </a:endParaRPr>
          </a:p>
          <a:p>
            <a:pPr algn="l">
              <a:lnSpc>
                <a:spcPct val="80000"/>
              </a:lnSpc>
              <a:defRPr/>
            </a:pPr>
            <a:r>
              <a:rPr lang="en-US" sz="4900" b="1" dirty="0">
                <a:solidFill>
                  <a:schemeClr val="tx1"/>
                </a:solidFill>
                <a:latin typeface="Times New Roman" panose="02020603050405020304" pitchFamily="18" charset="0"/>
                <a:cs typeface="Times New Roman" panose="02020603050405020304" pitchFamily="18" charset="0"/>
              </a:rPr>
              <a:t>                                                               </a:t>
            </a:r>
            <a:r>
              <a:rPr lang="en-US" sz="4800" b="1" dirty="0">
                <a:solidFill>
                  <a:schemeClr val="tx1"/>
                </a:solidFill>
                <a:latin typeface="Times New Roman" panose="02020603050405020304" pitchFamily="18" charset="0"/>
                <a:cs typeface="Times New Roman" panose="02020603050405020304" pitchFamily="18" charset="0"/>
              </a:rPr>
              <a:t>Roll No             Name</a:t>
            </a:r>
            <a:endParaRPr lang="en-US" sz="4800" b="1" dirty="0">
              <a:solidFill>
                <a:schemeClr val="tx1"/>
              </a:solidFill>
              <a:latin typeface="Times New Roman" panose="02020603050405020304" pitchFamily="18" charset="0"/>
              <a:cs typeface="Times New Roman" panose="02020603050405020304" pitchFamily="18" charset="0"/>
            </a:endParaRPr>
          </a:p>
          <a:p>
            <a:pPr algn="l">
              <a:lnSpc>
                <a:spcPct val="80000"/>
              </a:lnSpc>
              <a:defRPr/>
            </a:pPr>
            <a:endParaRPr lang="en-US" sz="4800" dirty="0">
              <a:solidFill>
                <a:schemeClr val="tx1"/>
              </a:solidFill>
              <a:latin typeface="Times New Roman" panose="02020603050405020304" pitchFamily="18" charset="0"/>
              <a:cs typeface="Times New Roman" panose="02020603050405020304" pitchFamily="18" charset="0"/>
            </a:endParaRPr>
          </a:p>
          <a:p>
            <a:pPr algn="l">
              <a:lnSpc>
                <a:spcPct val="80000"/>
              </a:lnSpc>
              <a:defRPr/>
            </a:pPr>
            <a:r>
              <a:rPr lang="en-US" sz="4800" dirty="0">
                <a:solidFill>
                  <a:schemeClr val="tx1"/>
                </a:solidFill>
                <a:latin typeface="Times New Roman" panose="02020603050405020304" pitchFamily="18" charset="0"/>
                <a:cs typeface="Times New Roman" panose="02020603050405020304" pitchFamily="18" charset="0"/>
              </a:rPr>
              <a:t>                                                             2420030427     Y. Nimisha</a:t>
            </a:r>
            <a:endParaRPr lang="en-US" sz="4800" dirty="0">
              <a:solidFill>
                <a:schemeClr val="tx1"/>
              </a:solidFill>
              <a:latin typeface="Times New Roman" panose="02020603050405020304" pitchFamily="18" charset="0"/>
              <a:cs typeface="Times New Roman" panose="02020603050405020304" pitchFamily="18" charset="0"/>
            </a:endParaRPr>
          </a:p>
          <a:p>
            <a:pPr algn="l">
              <a:lnSpc>
                <a:spcPct val="80000"/>
              </a:lnSpc>
              <a:defRPr/>
            </a:pPr>
            <a:r>
              <a:rPr lang="en-US" sz="4800" dirty="0">
                <a:solidFill>
                  <a:schemeClr val="tx1"/>
                </a:solidFill>
                <a:latin typeface="Times New Roman" panose="02020603050405020304" pitchFamily="18" charset="0"/>
                <a:cs typeface="Times New Roman" panose="02020603050405020304" pitchFamily="18" charset="0"/>
              </a:rPr>
              <a:t>                                                             2420030498     K. Sanuhya</a:t>
            </a:r>
            <a:endParaRPr lang="en-US" sz="4800" dirty="0">
              <a:solidFill>
                <a:schemeClr val="tx1"/>
              </a:solidFill>
              <a:latin typeface="Times New Roman" panose="02020603050405020304" pitchFamily="18" charset="0"/>
              <a:cs typeface="Times New Roman" panose="02020603050405020304" pitchFamily="18" charset="0"/>
            </a:endParaRPr>
          </a:p>
          <a:p>
            <a:pPr algn="l">
              <a:lnSpc>
                <a:spcPct val="80000"/>
              </a:lnSpc>
              <a:defRPr/>
            </a:pPr>
            <a:r>
              <a:rPr lang="en-US" sz="4800" dirty="0">
                <a:solidFill>
                  <a:schemeClr val="tx1"/>
                </a:solidFill>
                <a:latin typeface="Times New Roman" panose="02020603050405020304" pitchFamily="18" charset="0"/>
                <a:cs typeface="Times New Roman" panose="02020603050405020304" pitchFamily="18" charset="0"/>
              </a:rPr>
              <a:t>                                                             2420030516     R. Sarvajith </a:t>
            </a:r>
            <a:r>
              <a:rPr lang="en-US" sz="4800" dirty="0" err="1">
                <a:solidFill>
                  <a:schemeClr val="tx1"/>
                </a:solidFill>
                <a:latin typeface="Times New Roman" panose="02020603050405020304" pitchFamily="18" charset="0"/>
                <a:cs typeface="Times New Roman" panose="02020603050405020304" pitchFamily="18" charset="0"/>
              </a:rPr>
              <a:t>varma</a:t>
            </a:r>
            <a:endParaRPr lang="en-US" sz="4800" dirty="0">
              <a:solidFill>
                <a:schemeClr val="tx1"/>
              </a:solidFill>
              <a:latin typeface="Times New Roman" panose="02020603050405020304" pitchFamily="18" charset="0"/>
              <a:cs typeface="Times New Roman" panose="02020603050405020304" pitchFamily="18" charset="0"/>
            </a:endParaRPr>
          </a:p>
          <a:p>
            <a:pPr>
              <a:lnSpc>
                <a:spcPct val="80000"/>
              </a:lnSpc>
              <a:defRPr/>
            </a:pPr>
            <a:endParaRPr lang="en-US" sz="4200" dirty="0">
              <a:solidFill>
                <a:srgbClr val="0D0D0D"/>
              </a:solidFill>
              <a:latin typeface="Times New Roman" panose="02020603050405020304" pitchFamily="18" charset="0"/>
              <a:cs typeface="Times New Roman" panose="02020603050405020304" pitchFamily="18" charset="0"/>
            </a:endParaRPr>
          </a:p>
          <a:p>
            <a:pPr>
              <a:lnSpc>
                <a:spcPct val="80000"/>
              </a:lnSpc>
              <a:defRPr/>
            </a:pPr>
            <a:endParaRPr lang="en-US" sz="4200" b="1" dirty="0">
              <a:solidFill>
                <a:srgbClr val="FF0000"/>
              </a:solidFill>
              <a:latin typeface="Times New Roman" panose="02020603050405020304" pitchFamily="18" charset="0"/>
              <a:cs typeface="Times New Roman" panose="02020603050405020304" pitchFamily="18" charset="0"/>
            </a:endParaRPr>
          </a:p>
          <a:p>
            <a:pPr>
              <a:lnSpc>
                <a:spcPct val="80000"/>
              </a:lnSpc>
              <a:defRPr/>
            </a:pPr>
            <a:r>
              <a:rPr lang="en-GB" sz="4200" b="1" i="1" dirty="0">
                <a:solidFill>
                  <a:srgbClr val="FF0000"/>
                </a:solidFill>
                <a:latin typeface="Times New Roman" panose="02020603050405020304" pitchFamily="18" charset="0"/>
                <a:ea typeface="Times New Roman" panose="02020603050405020304" pitchFamily="18" charset="0"/>
              </a:rPr>
              <a:t>Under the guidance of </a:t>
            </a:r>
            <a:endParaRPr lang="en-GB" sz="4200" b="1" i="1" dirty="0">
              <a:solidFill>
                <a:srgbClr val="FF0000"/>
              </a:solidFill>
              <a:latin typeface="Times New Roman" panose="02020603050405020304" pitchFamily="18" charset="0"/>
              <a:ea typeface="Times New Roman" panose="02020603050405020304" pitchFamily="18" charset="0"/>
            </a:endParaRPr>
          </a:p>
          <a:p>
            <a:pPr>
              <a:lnSpc>
                <a:spcPct val="80000"/>
              </a:lnSpc>
              <a:defRPr/>
            </a:pPr>
            <a:endParaRPr lang="en-US" sz="4200" dirty="0">
              <a:solidFill>
                <a:srgbClr val="0D0D0D"/>
              </a:solidFill>
              <a:latin typeface="Times New Roman" panose="02020603050405020304" pitchFamily="18" charset="0"/>
              <a:cs typeface="Times New Roman" panose="02020603050405020304" pitchFamily="18" charset="0"/>
            </a:endParaRPr>
          </a:p>
          <a:p>
            <a:pPr>
              <a:lnSpc>
                <a:spcPct val="80000"/>
              </a:lnSpc>
              <a:defRPr/>
            </a:pPr>
            <a:r>
              <a:rPr lang="en-US" sz="5600" b="1" dirty="0">
                <a:solidFill>
                  <a:schemeClr val="tx1"/>
                </a:solidFill>
                <a:latin typeface="Times New Roman" panose="02020603050405020304" pitchFamily="18" charset="0"/>
                <a:cs typeface="Times New Roman" panose="02020603050405020304" pitchFamily="18" charset="0"/>
              </a:rPr>
              <a:t>Dr. Nalla Shirisha</a:t>
            </a:r>
            <a:endParaRPr lang="en-US" sz="5600" b="1" dirty="0">
              <a:solidFill>
                <a:schemeClr val="tx1"/>
              </a:solidFill>
              <a:latin typeface="Times New Roman" panose="02020603050405020304" pitchFamily="18" charset="0"/>
              <a:cs typeface="Times New Roman" panose="02020603050405020304" pitchFamily="18" charset="0"/>
            </a:endParaRPr>
          </a:p>
          <a:p>
            <a:pPr>
              <a:lnSpc>
                <a:spcPct val="80000"/>
              </a:lnSpc>
              <a:defRPr/>
            </a:pPr>
            <a:endParaRPr lang="en-US" sz="4200" b="1" dirty="0">
              <a:solidFill>
                <a:schemeClr val="tx1"/>
              </a:solidFill>
              <a:latin typeface="Times New Roman" panose="02020603050405020304" pitchFamily="18" charset="0"/>
              <a:cs typeface="Times New Roman" panose="02020603050405020304" pitchFamily="18" charset="0"/>
            </a:endParaRPr>
          </a:p>
          <a:p>
            <a:pPr>
              <a:lnSpc>
                <a:spcPct val="80000"/>
              </a:lnSpc>
              <a:defRPr/>
            </a:pPr>
            <a:r>
              <a:rPr lang="en-US" sz="4200" b="1" dirty="0">
                <a:solidFill>
                  <a:schemeClr val="tx1"/>
                </a:solidFill>
                <a:latin typeface="Times New Roman" panose="02020603050405020304" pitchFamily="18" charset="0"/>
                <a:cs typeface="Times New Roman" panose="02020603050405020304" pitchFamily="18" charset="0"/>
              </a:rPr>
              <a:t>Associate Professor </a:t>
            </a:r>
            <a:endParaRPr lang="en-US" sz="4200" b="1" dirty="0">
              <a:solidFill>
                <a:schemeClr val="tx1"/>
              </a:solidFill>
              <a:latin typeface="Times New Roman" panose="02020603050405020304" pitchFamily="18" charset="0"/>
              <a:cs typeface="Times New Roman" panose="02020603050405020304" pitchFamily="18" charset="0"/>
            </a:endParaRPr>
          </a:p>
          <a:p>
            <a:pPr>
              <a:lnSpc>
                <a:spcPct val="80000"/>
              </a:lnSpc>
              <a:defRPr/>
            </a:pPr>
            <a:endParaRPr lang="en-US" sz="4200" b="1" dirty="0">
              <a:solidFill>
                <a:schemeClr val="tx1"/>
              </a:solidFill>
              <a:latin typeface="Times New Roman" panose="02020603050405020304" pitchFamily="18" charset="0"/>
              <a:cs typeface="Times New Roman" panose="02020603050405020304" pitchFamily="18" charset="0"/>
            </a:endParaRPr>
          </a:p>
          <a:p>
            <a:pPr>
              <a:lnSpc>
                <a:spcPct val="80000"/>
              </a:lnSpc>
              <a:defRPr/>
            </a:pPr>
            <a:r>
              <a:rPr lang="en-US" sz="5600" b="1" dirty="0">
                <a:solidFill>
                  <a:srgbClr val="0070C0"/>
                </a:solidFill>
                <a:latin typeface="Times New Roman" panose="02020603050405020304" pitchFamily="18" charset="0"/>
                <a:cs typeface="Times New Roman" panose="02020603050405020304" pitchFamily="18" charset="0"/>
              </a:rPr>
              <a:t>Department of Computer Science and Engineering</a:t>
            </a:r>
            <a:endParaRPr lang="en-US" sz="5600" b="1" dirty="0">
              <a:solidFill>
                <a:srgbClr val="0070C0"/>
              </a:solidFill>
              <a:latin typeface="Times New Roman" panose="02020603050405020304" pitchFamily="18" charset="0"/>
              <a:cs typeface="Times New Roman" panose="02020603050405020304" pitchFamily="18" charset="0"/>
            </a:endParaRPr>
          </a:p>
          <a:p>
            <a:pPr>
              <a:lnSpc>
                <a:spcPct val="80000"/>
              </a:lnSpc>
              <a:defRPr/>
            </a:pPr>
            <a:r>
              <a:rPr lang="en-US" sz="4200" b="1" dirty="0">
                <a:solidFill>
                  <a:srgbClr val="0D0D0D"/>
                </a:solidFill>
                <a:latin typeface="Times New Roman" panose="02020603050405020304" pitchFamily="18" charset="0"/>
                <a:cs typeface="Times New Roman" panose="02020603050405020304" pitchFamily="18" charset="0"/>
              </a:rPr>
              <a:t>                                                </a:t>
            </a:r>
            <a:r>
              <a:rPr lang="en-US" sz="4200" dirty="0">
                <a:solidFill>
                  <a:srgbClr val="0D0D0D"/>
                </a:solidFill>
                <a:latin typeface="Times New Roman" panose="02020603050405020304" pitchFamily="18" charset="0"/>
                <a:cs typeface="Times New Roman" panose="02020603050405020304" pitchFamily="18" charset="0"/>
              </a:rPr>
              <a:t>                              </a:t>
            </a:r>
            <a:r>
              <a:rPr lang="en-US" sz="1800" dirty="0">
                <a:solidFill>
                  <a:srgbClr val="0D0D0D"/>
                </a:solidFill>
                <a:latin typeface="Times New Roman" panose="02020603050405020304" pitchFamily="18" charset="0"/>
                <a:cs typeface="Times New Roman" panose="02020603050405020304" pitchFamily="18" charset="0"/>
              </a:rPr>
              <a:t>                                            </a:t>
            </a:r>
            <a:endParaRPr lang="en-US" sz="1800" dirty="0">
              <a:solidFill>
                <a:srgbClr val="0D0D0D"/>
              </a:solidFill>
              <a:latin typeface="Times New Roman" panose="02020603050405020304" pitchFamily="18" charset="0"/>
              <a:cs typeface="Times New Roman" panose="02020603050405020304" pitchFamily="18" charset="0"/>
            </a:endParaRPr>
          </a:p>
        </p:txBody>
      </p:sp>
      <p:sp>
        <p:nvSpPr>
          <p:cNvPr id="13" name="TextBox 12"/>
          <p:cNvSpPr txBox="1"/>
          <p:nvPr/>
        </p:nvSpPr>
        <p:spPr>
          <a:xfrm>
            <a:off x="1447800" y="5115098"/>
            <a:ext cx="6858000" cy="1047403"/>
          </a:xfrm>
          <a:prstGeom prst="rect">
            <a:avLst/>
          </a:prstGeom>
          <a:noFill/>
        </p:spPr>
        <p:txBody>
          <a:bodyPr wrap="square">
            <a:spAutoFit/>
          </a:bodyPr>
          <a:lstStyle/>
          <a:p>
            <a:pPr algn="ctr">
              <a:lnSpc>
                <a:spcPct val="107000"/>
              </a:lnSpc>
              <a:spcBef>
                <a:spcPts val="1165"/>
              </a:spcBef>
              <a:spcAft>
                <a:spcPts val="600"/>
              </a:spcAft>
            </a:pPr>
            <a:r>
              <a:rPr lang="en-GB" sz="2100" b="1" kern="100" dirty="0">
                <a:latin typeface="Times New Roman" panose="02020603050405020304" pitchFamily="18" charset="0"/>
                <a:ea typeface="Times New Roman" panose="02020603050405020304" pitchFamily="18" charset="0"/>
                <a:cs typeface="Times New Roman" panose="02020603050405020304" pitchFamily="18" charset="0"/>
              </a:rPr>
              <a:t>Koneru </a:t>
            </a:r>
            <a:r>
              <a:rPr lang="en-GB" sz="2100" b="1" kern="100" dirty="0" err="1">
                <a:latin typeface="Times New Roman" panose="02020603050405020304" pitchFamily="18" charset="0"/>
                <a:ea typeface="Times New Roman" panose="02020603050405020304" pitchFamily="18" charset="0"/>
                <a:cs typeface="Times New Roman" panose="02020603050405020304" pitchFamily="18" charset="0"/>
              </a:rPr>
              <a:t>Lakshmaiah</a:t>
            </a:r>
            <a:r>
              <a:rPr lang="en-GB" sz="2100" b="1" kern="100" dirty="0">
                <a:latin typeface="Times New Roman" panose="02020603050405020304" pitchFamily="18" charset="0"/>
                <a:ea typeface="Times New Roman" panose="02020603050405020304" pitchFamily="18" charset="0"/>
                <a:cs typeface="Times New Roman" panose="02020603050405020304" pitchFamily="18" charset="0"/>
              </a:rPr>
              <a:t> Education Foundation</a:t>
            </a:r>
            <a:br>
              <a:rPr lang="en-GB" sz="1350" b="1" kern="100" dirty="0">
                <a:latin typeface="Times New Roman" panose="02020603050405020304" pitchFamily="18" charset="0"/>
                <a:ea typeface="Times New Roman" panose="02020603050405020304" pitchFamily="18" charset="0"/>
                <a:cs typeface="Times New Roman" panose="02020603050405020304" pitchFamily="18" charset="0"/>
              </a:rPr>
            </a:br>
            <a:r>
              <a:rPr lang="en-GB" sz="1350" b="1" kern="100" dirty="0">
                <a:latin typeface="Times New Roman" panose="02020603050405020304" pitchFamily="18" charset="0"/>
                <a:ea typeface="Times New Roman" panose="02020603050405020304" pitchFamily="18" charset="0"/>
                <a:cs typeface="Times New Roman" panose="02020603050405020304" pitchFamily="18" charset="0"/>
              </a:rPr>
              <a:t>(Deemed to be University </a:t>
            </a:r>
            <a:r>
              <a:rPr lang="en-GB" sz="1350" b="1" kern="100" dirty="0" err="1">
                <a:latin typeface="Times New Roman" panose="02020603050405020304" pitchFamily="18" charset="0"/>
                <a:ea typeface="Times New Roman" panose="02020603050405020304" pitchFamily="18" charset="0"/>
                <a:cs typeface="Times New Roman" panose="02020603050405020304" pitchFamily="18" charset="0"/>
              </a:rPr>
              <a:t>estd</a:t>
            </a:r>
            <a:r>
              <a:rPr lang="en-GB" sz="1350" b="1" kern="100" dirty="0">
                <a:latin typeface="Times New Roman" panose="02020603050405020304" pitchFamily="18" charset="0"/>
                <a:ea typeface="Times New Roman" panose="02020603050405020304" pitchFamily="18" charset="0"/>
                <a:cs typeface="Times New Roman" panose="02020603050405020304" pitchFamily="18" charset="0"/>
              </a:rPr>
              <a:t>. u/s. 3 of the UGC Act, 1956)</a:t>
            </a:r>
            <a:br>
              <a:rPr lang="en-GB" sz="1350" b="1" kern="100" dirty="0">
                <a:latin typeface="Times New Roman" panose="02020603050405020304" pitchFamily="18" charset="0"/>
                <a:ea typeface="Times New Roman" panose="02020603050405020304" pitchFamily="18" charset="0"/>
                <a:cs typeface="Times New Roman" panose="02020603050405020304" pitchFamily="18" charset="0"/>
              </a:rPr>
            </a:br>
            <a:r>
              <a:rPr lang="en-GB" sz="1200" b="1" kern="100" dirty="0">
                <a:latin typeface="Times New Roman" panose="02020603050405020304" pitchFamily="18" charset="0"/>
                <a:ea typeface="Times New Roman" panose="02020603050405020304" pitchFamily="18" charset="0"/>
                <a:cs typeface="Times New Roman" panose="02020603050405020304" pitchFamily="18" charset="0"/>
              </a:rPr>
              <a:t>Off-Campus: </a:t>
            </a:r>
            <a:r>
              <a:rPr lang="en-GB" sz="1200" b="1" kern="100" dirty="0" err="1">
                <a:latin typeface="Times New Roman" panose="02020603050405020304" pitchFamily="18" charset="0"/>
                <a:ea typeface="Times New Roman" panose="02020603050405020304" pitchFamily="18" charset="0"/>
                <a:cs typeface="Times New Roman" panose="02020603050405020304" pitchFamily="18" charset="0"/>
              </a:rPr>
              <a:t>Bachupally-Gandimaisamma</a:t>
            </a:r>
            <a:r>
              <a:rPr lang="en-GB" sz="1200" b="1" kern="100" dirty="0">
                <a:latin typeface="Times New Roman" panose="02020603050405020304" pitchFamily="18" charset="0"/>
                <a:ea typeface="Times New Roman" panose="02020603050405020304" pitchFamily="18" charset="0"/>
                <a:cs typeface="Times New Roman" panose="02020603050405020304" pitchFamily="18" charset="0"/>
              </a:rPr>
              <a:t> Road, </a:t>
            </a:r>
            <a:r>
              <a:rPr lang="en-GB" sz="1200" b="1" kern="100" dirty="0" err="1">
                <a:latin typeface="Times New Roman" panose="02020603050405020304" pitchFamily="18" charset="0"/>
                <a:ea typeface="Times New Roman" panose="02020603050405020304" pitchFamily="18" charset="0"/>
                <a:cs typeface="Times New Roman" panose="02020603050405020304" pitchFamily="18" charset="0"/>
              </a:rPr>
              <a:t>Bowrampet</a:t>
            </a:r>
            <a:r>
              <a:rPr lang="en-GB" sz="1200" b="1" kern="100" dirty="0">
                <a:latin typeface="Times New Roman" panose="02020603050405020304" pitchFamily="18" charset="0"/>
                <a:ea typeface="Times New Roman" panose="02020603050405020304" pitchFamily="18" charset="0"/>
                <a:cs typeface="Times New Roman" panose="02020603050405020304" pitchFamily="18" charset="0"/>
              </a:rPr>
              <a:t>, Hyderabad, Telangana - 500 043.</a:t>
            </a:r>
            <a:br>
              <a:rPr lang="en-GB" sz="1200" b="1" kern="100" dirty="0">
                <a:latin typeface="Times New Roman" panose="02020603050405020304" pitchFamily="18" charset="0"/>
                <a:ea typeface="Times New Roman" panose="02020603050405020304" pitchFamily="18" charset="0"/>
                <a:cs typeface="Times New Roman" panose="02020603050405020304" pitchFamily="18" charset="0"/>
              </a:rPr>
            </a:br>
            <a:r>
              <a:rPr lang="en-GB" sz="1200" b="1" kern="100" dirty="0">
                <a:latin typeface="Times New Roman" panose="02020603050405020304" pitchFamily="18" charset="0"/>
                <a:ea typeface="Times New Roman" panose="02020603050405020304" pitchFamily="18" charset="0"/>
                <a:cs typeface="Times New Roman" panose="02020603050405020304" pitchFamily="18" charset="0"/>
              </a:rPr>
              <a:t>Phone No: 7815926816, </a:t>
            </a:r>
            <a:r>
              <a:rPr lang="en-GB" sz="1200" b="1" u="sng" kern="100" dirty="0">
                <a:solidFill>
                  <a:srgbClr val="467886"/>
                </a:solidFill>
                <a:latin typeface="Times New Roman" panose="02020603050405020304" pitchFamily="18" charset="0"/>
                <a:ea typeface="Times New Roman" panose="02020603050405020304" pitchFamily="18" charset="0"/>
                <a:cs typeface="Times New Roman" panose="02020603050405020304" pitchFamily="18" charset="0"/>
                <a:hlinkClick r:id="rId1"/>
              </a:rPr>
              <a:t>www.klh.edu.in</a:t>
            </a:r>
            <a:endParaRPr lang="en-US" sz="1200" kern="100" dirty="0">
              <a:latin typeface="Aptos" panose="020B0004020202020204" pitchFamily="34" charset="0"/>
              <a:ea typeface="Aptos" panose="020B0004020202020204" pitchFamily="34" charset="0"/>
              <a:cs typeface="Times New Roman" panose="02020603050405020304" pitchFamily="18"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33800" y="4343400"/>
            <a:ext cx="1874990" cy="93978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75476"/>
            <a:ext cx="8229600" cy="1143000"/>
          </a:xfrm>
        </p:spPr>
        <p:txBody>
          <a:bodyPr>
            <a:normAutofit/>
          </a:bodyPr>
          <a:lstStyle/>
          <a:p>
            <a:r>
              <a:rPr lang="en-IN" b="1" dirty="0">
                <a:solidFill>
                  <a:srgbClr val="0070C0"/>
                </a:solidFill>
                <a:latin typeface="Times New Roman" panose="02020603050405020304" pitchFamily="18" charset="0"/>
                <a:cs typeface="Times New Roman" panose="02020603050405020304" pitchFamily="18" charset="0"/>
              </a:rPr>
              <a:t>Table of contents</a:t>
            </a:r>
            <a:endParaRPr lang="en-IN"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85800" y="1718476"/>
            <a:ext cx="8229600" cy="4525963"/>
          </a:xfrm>
        </p:spPr>
        <p:txBody>
          <a:bodyPr>
            <a:normAutofit/>
          </a:bodyPr>
          <a:lstStyle/>
          <a:p>
            <a:pPr>
              <a:lnSpc>
                <a:spcPct val="120000"/>
              </a:lnSpc>
            </a:pPr>
            <a:r>
              <a:rPr lang="en-IN" sz="2000" dirty="0">
                <a:latin typeface="Times New Roman" panose="02020603050405020304" pitchFamily="18" charset="0"/>
                <a:cs typeface="Times New Roman" panose="02020603050405020304" pitchFamily="18" charset="0"/>
              </a:rPr>
              <a:t>Abstract</a:t>
            </a:r>
            <a:endParaRPr lang="en-IN" sz="2000" dirty="0">
              <a:latin typeface="Times New Roman" panose="02020603050405020304" pitchFamily="18" charset="0"/>
              <a:cs typeface="Times New Roman" panose="02020603050405020304" pitchFamily="18" charset="0"/>
            </a:endParaRPr>
          </a:p>
          <a:p>
            <a:pPr>
              <a:lnSpc>
                <a:spcPct val="120000"/>
              </a:lnSpc>
            </a:pPr>
            <a:r>
              <a:rPr lang="en-IN" sz="2000" dirty="0">
                <a:latin typeface="Times New Roman" panose="02020603050405020304" pitchFamily="18" charset="0"/>
                <a:cs typeface="Times New Roman" panose="02020603050405020304" pitchFamily="18" charset="0"/>
              </a:rPr>
              <a:t>Introduction</a:t>
            </a:r>
            <a:endParaRPr lang="en-IN" sz="2000" dirty="0">
              <a:latin typeface="Times New Roman" panose="02020603050405020304" pitchFamily="18" charset="0"/>
              <a:cs typeface="Times New Roman" panose="02020603050405020304" pitchFamily="18" charset="0"/>
            </a:endParaRPr>
          </a:p>
          <a:p>
            <a:pPr>
              <a:lnSpc>
                <a:spcPct val="120000"/>
              </a:lnSpc>
            </a:pPr>
            <a:r>
              <a:rPr lang="en-IN" sz="2000" dirty="0">
                <a:latin typeface="Times New Roman" panose="02020603050405020304" pitchFamily="18" charset="0"/>
                <a:cs typeface="Times New Roman" panose="02020603050405020304" pitchFamily="18" charset="0"/>
              </a:rPr>
              <a:t>Objectives</a:t>
            </a:r>
            <a:endParaRPr lang="en-IN" sz="2000" dirty="0">
              <a:latin typeface="Times New Roman" panose="02020603050405020304" pitchFamily="18" charset="0"/>
              <a:cs typeface="Times New Roman" panose="02020603050405020304" pitchFamily="18" charset="0"/>
            </a:endParaRPr>
          </a:p>
          <a:p>
            <a:pPr>
              <a:lnSpc>
                <a:spcPct val="120000"/>
              </a:lnSpc>
            </a:pPr>
            <a:r>
              <a:rPr lang="en-IN" sz="2000" dirty="0">
                <a:latin typeface="Times New Roman" panose="02020603050405020304" pitchFamily="18" charset="0"/>
                <a:cs typeface="Times New Roman" panose="02020603050405020304" pitchFamily="18" charset="0"/>
              </a:rPr>
              <a:t>Literature Survey</a:t>
            </a:r>
            <a:endParaRPr lang="en-IN" sz="2000" dirty="0">
              <a:latin typeface="Times New Roman" panose="02020603050405020304" pitchFamily="18" charset="0"/>
              <a:cs typeface="Times New Roman" panose="02020603050405020304" pitchFamily="18" charset="0"/>
            </a:endParaRPr>
          </a:p>
          <a:p>
            <a:pPr>
              <a:lnSpc>
                <a:spcPct val="120000"/>
              </a:lnSpc>
            </a:pPr>
            <a:r>
              <a:rPr lang="en-IN" sz="2000" dirty="0">
                <a:latin typeface="Times New Roman" panose="02020603050405020304" pitchFamily="18" charset="0"/>
                <a:cs typeface="Times New Roman" panose="02020603050405020304" pitchFamily="18" charset="0"/>
              </a:rPr>
              <a:t>System architecture</a:t>
            </a:r>
            <a:endParaRPr lang="en-IN" sz="2000" dirty="0">
              <a:latin typeface="Times New Roman" panose="02020603050405020304" pitchFamily="18" charset="0"/>
              <a:cs typeface="Times New Roman" panose="02020603050405020304" pitchFamily="18" charset="0"/>
            </a:endParaRPr>
          </a:p>
          <a:p>
            <a:pPr>
              <a:lnSpc>
                <a:spcPct val="120000"/>
              </a:lnSpc>
            </a:pPr>
            <a:r>
              <a:rPr lang="en-IN" sz="2000" dirty="0">
                <a:latin typeface="Times New Roman" panose="02020603050405020304" pitchFamily="18" charset="0"/>
                <a:cs typeface="Times New Roman" panose="02020603050405020304" pitchFamily="18" charset="0"/>
              </a:rPr>
              <a:t>Methodology</a:t>
            </a:r>
            <a:endParaRPr lang="en-IN" sz="2000" dirty="0">
              <a:latin typeface="Times New Roman" panose="02020603050405020304" pitchFamily="18" charset="0"/>
              <a:cs typeface="Times New Roman" panose="02020603050405020304" pitchFamily="18" charset="0"/>
            </a:endParaRPr>
          </a:p>
          <a:p>
            <a:pPr>
              <a:lnSpc>
                <a:spcPct val="120000"/>
              </a:lnSpc>
            </a:pPr>
            <a:r>
              <a:rPr lang="en-IN" sz="2000" dirty="0">
                <a:latin typeface="Times New Roman" panose="02020603050405020304" pitchFamily="18" charset="0"/>
                <a:cs typeface="Times New Roman" panose="02020603050405020304" pitchFamily="18" charset="0"/>
              </a:rPr>
              <a:t>Technologies and Tools</a:t>
            </a:r>
            <a:endParaRPr lang="en-IN" sz="2000" dirty="0">
              <a:latin typeface="Times New Roman" panose="02020603050405020304" pitchFamily="18" charset="0"/>
              <a:cs typeface="Times New Roman" panose="02020603050405020304" pitchFamily="18" charset="0"/>
            </a:endParaRPr>
          </a:p>
          <a:p>
            <a:pPr>
              <a:lnSpc>
                <a:spcPct val="120000"/>
              </a:lnSpc>
            </a:pPr>
            <a:r>
              <a:rPr lang="en-IN" sz="2000" dirty="0">
                <a:latin typeface="Times New Roman" panose="02020603050405020304" pitchFamily="18" charset="0"/>
                <a:cs typeface="Times New Roman" panose="02020603050405020304" pitchFamily="18" charset="0"/>
              </a:rPr>
              <a:t>Implementation and Functionality</a:t>
            </a:r>
            <a:endParaRPr lang="en-IN" sz="2000" dirty="0">
              <a:latin typeface="Times New Roman" panose="02020603050405020304" pitchFamily="18" charset="0"/>
              <a:cs typeface="Times New Roman" panose="02020603050405020304" pitchFamily="18" charset="0"/>
            </a:endParaRPr>
          </a:p>
          <a:p>
            <a:pPr>
              <a:lnSpc>
                <a:spcPct val="120000"/>
              </a:lnSpc>
            </a:pPr>
            <a:endParaRPr lang="en-IN" dirty="0">
              <a:latin typeface="Times New Roman" panose="02020603050405020304" pitchFamily="18" charset="0"/>
              <a:cs typeface="Times New Roman" panose="02020603050405020304" pitchFamily="18" charset="0"/>
            </a:endParaRPr>
          </a:p>
          <a:p>
            <a:pPr>
              <a:lnSpc>
                <a:spcPct val="120000"/>
              </a:lnSpc>
            </a:pPr>
            <a:endParaRPr lang="en-IN" dirty="0">
              <a:latin typeface="Times New Roman" panose="02020603050405020304" pitchFamily="18" charset="0"/>
              <a:cs typeface="Times New Roman" panose="02020603050405020304" pitchFamily="18" charset="0"/>
            </a:endParaRPr>
          </a:p>
          <a:p>
            <a:pPr>
              <a:lnSpc>
                <a:spcPct val="120000"/>
              </a:lnSpc>
            </a:pPr>
            <a:endParaRPr lang="en-IN" sz="2000" dirty="0">
              <a:latin typeface="Times New Roman" panose="02020603050405020304" pitchFamily="18" charset="0"/>
              <a:cs typeface="Times New Roman" panose="02020603050405020304" pitchFamily="18" charset="0"/>
            </a:endParaRPr>
          </a:p>
          <a:p>
            <a:pPr>
              <a:lnSpc>
                <a:spcPct val="120000"/>
              </a:lnSpc>
            </a:pPr>
            <a:endParaRPr lang="en-IN" sz="2000" dirty="0">
              <a:latin typeface="Times New Roman" panose="02020603050405020304" pitchFamily="18" charset="0"/>
              <a:cs typeface="Times New Roman" panose="02020603050405020304" pitchFamily="18" charset="0"/>
            </a:endParaRPr>
          </a:p>
          <a:p>
            <a:endParaRPr lang="en-IN" sz="1100" dirty="0">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solidFill>
                  <a:srgbClr val="0070C0"/>
                </a:solidFill>
                <a:latin typeface="Times New Roman" panose="02020603050405020304" pitchFamily="18" charset="0"/>
                <a:cs typeface="Times New Roman" panose="02020603050405020304" pitchFamily="18" charset="0"/>
              </a:rPr>
              <a:t>Abstract</a:t>
            </a:r>
            <a:endParaRPr lang="en-IN"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85000" lnSpcReduction="20000"/>
          </a:bodyPr>
          <a:lstStyle/>
          <a:p>
            <a:pPr marL="0" indent="0" algn="just">
              <a:lnSpc>
                <a:spcPct val="110000"/>
              </a:lnSpc>
              <a:buNone/>
            </a:pPr>
            <a:r>
              <a:rPr lang="en-IN" dirty="0">
                <a:latin typeface="Times New Roman" panose="02020603050405020304" pitchFamily="18" charset="0"/>
                <a:cs typeface="Times New Roman" panose="02020603050405020304" pitchFamily="18" charset="0"/>
              </a:rPr>
              <a:t>E-commerce platforms provide a very large number of products, which can make it difficult for customers to find products that match their needs and interests. To solve this problem, recommendation systems study different types of user activities, such as searches, clicks, product views, ratings, cart activity, and previous purchases. These activities help the system understand what a customer is interested in. The collected information is then processed through a recommendation pipeline, where the data is collected, cleaned, prepared, and </a:t>
            </a:r>
            <a:r>
              <a:rPr lang="en-IN" dirty="0" err="1">
                <a:latin typeface="Times New Roman" panose="02020603050405020304" pitchFamily="18" charset="0"/>
                <a:cs typeface="Times New Roman" panose="02020603050405020304" pitchFamily="18" charset="0"/>
              </a:rPr>
              <a:t>analyzed</a:t>
            </a:r>
            <a:r>
              <a:rPr lang="en-IN" dirty="0">
                <a:latin typeface="Times New Roman" panose="02020603050405020304" pitchFamily="18" charset="0"/>
                <a:cs typeface="Times New Roman" panose="02020603050405020304" pitchFamily="18" charset="0"/>
              </a:rPr>
              <a:t>. Based on this processed data, suitable products are identified, ranked according to their relevance, and recommended to the customer. The recommendations are personalized because they are based on the individual customer's interests and </a:t>
            </a:r>
            <a:r>
              <a:rPr lang="en-IN" dirty="0" err="1">
                <a:latin typeface="Times New Roman" panose="02020603050405020304" pitchFamily="18" charset="0"/>
                <a:cs typeface="Times New Roman" panose="02020603050405020304" pitchFamily="18" charset="0"/>
              </a:rPr>
              <a:t>behavior</a:t>
            </a:r>
            <a:r>
              <a:rPr lang="en-IN" dirty="0">
                <a:latin typeface="Times New Roman" panose="02020603050405020304" pitchFamily="18" charset="0"/>
                <a:cs typeface="Times New Roman" panose="02020603050405020304" pitchFamily="18" charset="0"/>
              </a:rPr>
              <a:t>. This project focuses on understanding how an e-commerce recommendation system works, the different stages involved in its data pipeline, and how these personalized recommendations can improve product discovery, customer experience, and make online shopping easier and more convenient.</a:t>
            </a:r>
            <a:endParaRPr lang="en-IN"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992" y="568915"/>
            <a:ext cx="8458200" cy="715962"/>
          </a:xfrm>
        </p:spPr>
        <p:txBody>
          <a:bodyPr/>
          <a:lstStyle/>
          <a:p>
            <a:r>
              <a:rPr lang="en-IN" b="1" dirty="0">
                <a:latin typeface="Times New Roman" panose="02020603050405020304" pitchFamily="18" charset="0"/>
                <a:cs typeface="Times New Roman" panose="02020603050405020304" pitchFamily="18" charset="0"/>
              </a:rPr>
              <a:t>	</a:t>
            </a:r>
            <a:r>
              <a:rPr lang="en-IN" b="1" dirty="0">
                <a:solidFill>
                  <a:srgbClr val="0070C0"/>
                </a:solidFill>
                <a:latin typeface="Times New Roman" panose="02020603050405020304" pitchFamily="18" charset="0"/>
                <a:cs typeface="Times New Roman" panose="02020603050405020304" pitchFamily="18" charset="0"/>
              </a:rPr>
              <a:t>Introduction</a:t>
            </a:r>
            <a:endParaRPr lang="en-IN"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28600" y="1066800"/>
            <a:ext cx="8686800" cy="5029200"/>
          </a:xfrm>
        </p:spPr>
        <p:txBody>
          <a:bodyPr>
            <a:noAutofit/>
          </a:bodyPr>
          <a:lstStyle/>
          <a:p>
            <a:pPr algn="just">
              <a:buFont typeface="Wingdings" panose="05000000000000000000" pitchFamily="2" charset="2"/>
              <a:buChar char="§"/>
            </a:pPr>
            <a:endParaRPr lang="en-US" sz="1900" dirty="0">
              <a:latin typeface="Times New Roman" panose="02020603050405020304" pitchFamily="18" charset="0"/>
              <a:cs typeface="Times New Roman" panose="02020603050405020304" pitchFamily="18" charset="0"/>
            </a:endParaRPr>
          </a:p>
          <a:p>
            <a:pPr algn="just">
              <a:spcBef>
                <a:spcPts val="460"/>
              </a:spcBef>
              <a:buFont typeface="Wingdings" panose="05000000000000000000" pitchFamily="2" charset="2"/>
              <a:buChar char="§"/>
            </a:pPr>
            <a:r>
              <a:rPr lang="en-US" sz="1900" dirty="0">
                <a:latin typeface="Times New Roman" panose="02020603050405020304" pitchFamily="18" charset="0"/>
                <a:cs typeface="Times New Roman" panose="02020603050405020304" pitchFamily="18" charset="0"/>
              </a:rPr>
              <a:t>E-commerce has become a major part of everyday shopping, with platforms offering thousands or even millions of products. With so many choices available, customers may find it difficult to identify products that are relevant to their needs.</a:t>
            </a:r>
            <a:endParaRPr lang="en-US" sz="1900" dirty="0">
              <a:latin typeface="Times New Roman" panose="02020603050405020304" pitchFamily="18" charset="0"/>
              <a:cs typeface="Times New Roman" panose="02020603050405020304" pitchFamily="18" charset="0"/>
            </a:endParaRPr>
          </a:p>
          <a:p>
            <a:pPr algn="just">
              <a:spcBef>
                <a:spcPts val="460"/>
              </a:spcBef>
              <a:buFont typeface="Wingdings" panose="05000000000000000000" pitchFamily="2" charset="2"/>
              <a:buChar char="§"/>
            </a:pPr>
            <a:endParaRPr lang="en-US" sz="1900" dirty="0">
              <a:latin typeface="Times New Roman" panose="02020603050405020304" pitchFamily="18" charset="0"/>
              <a:cs typeface="Times New Roman" panose="02020603050405020304" pitchFamily="18" charset="0"/>
            </a:endParaRPr>
          </a:p>
          <a:p>
            <a:pPr algn="just">
              <a:spcBef>
                <a:spcPts val="460"/>
              </a:spcBef>
              <a:buFont typeface="Wingdings" panose="05000000000000000000" pitchFamily="2" charset="2"/>
              <a:buChar char="§"/>
            </a:pPr>
            <a:r>
              <a:rPr lang="en-US" sz="1900" dirty="0">
                <a:latin typeface="Times New Roman" panose="02020603050405020304" pitchFamily="18" charset="0"/>
                <a:cs typeface="Times New Roman" panose="02020603050405020304" pitchFamily="18" charset="0"/>
              </a:rPr>
              <a:t>An e-commerce recommendation system helps solve this problem by understanding customer interests and suggesting products that they are likely to prefer. It uses information such as search history, product views, clicks, ratings, cart activity, and previous purchases.</a:t>
            </a:r>
            <a:endParaRPr lang="en-US" sz="1900" dirty="0">
              <a:latin typeface="Times New Roman" panose="02020603050405020304" pitchFamily="18" charset="0"/>
              <a:cs typeface="Times New Roman" panose="02020603050405020304" pitchFamily="18" charset="0"/>
            </a:endParaRPr>
          </a:p>
          <a:p>
            <a:pPr algn="just">
              <a:spcBef>
                <a:spcPts val="460"/>
              </a:spcBef>
              <a:buFont typeface="Wingdings" panose="05000000000000000000" pitchFamily="2" charset="2"/>
              <a:buChar char="§"/>
            </a:pPr>
            <a:endParaRPr lang="en-US" sz="1900" dirty="0">
              <a:latin typeface="Times New Roman" panose="02020603050405020304" pitchFamily="18" charset="0"/>
              <a:cs typeface="Times New Roman" panose="02020603050405020304" pitchFamily="18" charset="0"/>
            </a:endParaRPr>
          </a:p>
          <a:p>
            <a:pPr algn="just">
              <a:spcBef>
                <a:spcPts val="460"/>
              </a:spcBef>
              <a:buFont typeface="Wingdings" panose="05000000000000000000" pitchFamily="2" charset="2"/>
              <a:buChar char="§"/>
            </a:pPr>
            <a:r>
              <a:rPr lang="en-US" sz="1900" dirty="0">
                <a:latin typeface="Times New Roman" panose="02020603050405020304" pitchFamily="18" charset="0"/>
                <a:cs typeface="Times New Roman" panose="02020603050405020304" pitchFamily="18" charset="0"/>
              </a:rPr>
              <a:t>Behind these recommendations is a recommendation pipeline. It takes user and product data, processes the information, finds relevant products, ranks them, and finally displays the most suitable recommendations to the customer.</a:t>
            </a:r>
            <a:endParaRPr lang="en-US" sz="1900" dirty="0">
              <a:latin typeface="Times New Roman" panose="02020603050405020304" pitchFamily="18" charset="0"/>
              <a:cs typeface="Times New Roman" panose="02020603050405020304" pitchFamily="18" charset="0"/>
            </a:endParaRPr>
          </a:p>
          <a:p>
            <a:pPr algn="just">
              <a:spcBef>
                <a:spcPts val="460"/>
              </a:spcBef>
              <a:buFont typeface="Wingdings" panose="05000000000000000000" pitchFamily="2" charset="2"/>
              <a:buChar char="§"/>
            </a:pPr>
            <a:endParaRPr lang="en-US" sz="1900" dirty="0">
              <a:latin typeface="Times New Roman" panose="02020603050405020304" pitchFamily="18" charset="0"/>
              <a:cs typeface="Times New Roman" panose="02020603050405020304" pitchFamily="18" charset="0"/>
            </a:endParaRPr>
          </a:p>
          <a:p>
            <a:pPr algn="just">
              <a:spcBef>
                <a:spcPts val="460"/>
              </a:spcBef>
              <a:buFont typeface="Wingdings" panose="05000000000000000000" pitchFamily="2" charset="2"/>
              <a:buChar char="§"/>
            </a:pPr>
            <a:r>
              <a:rPr lang="en-US" sz="1900" dirty="0">
                <a:latin typeface="Times New Roman" panose="02020603050405020304" pitchFamily="18" charset="0"/>
                <a:cs typeface="Times New Roman" panose="02020603050405020304" pitchFamily="18" charset="0"/>
              </a:rPr>
              <a:t>Therefore, recommendation systems help make online shopping more personalized, convenient, and efficient, while also helping e-commerce platforms improve customer engagement and product discovery.</a:t>
            </a:r>
            <a:endParaRPr lang="en-IN" sz="19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8214" y="596907"/>
            <a:ext cx="8458200" cy="715962"/>
          </a:xfrm>
        </p:spPr>
        <p:txBody>
          <a:bodyPr>
            <a:noAutofit/>
          </a:bodyPr>
          <a:lstStyle/>
          <a:p>
            <a:r>
              <a:rPr lang="en-IN" b="1" dirty="0">
                <a:solidFill>
                  <a:srgbClr val="0070C0"/>
                </a:solidFill>
                <a:latin typeface="Times New Roman" panose="02020603050405020304" pitchFamily="18" charset="0"/>
                <a:cs typeface="Times New Roman" panose="02020603050405020304" pitchFamily="18" charset="0"/>
              </a:rPr>
              <a:t>Objectives</a:t>
            </a:r>
            <a:br>
              <a:rPr lang="en-IN" b="1" dirty="0">
                <a:solidFill>
                  <a:srgbClr val="0070C0"/>
                </a:solidFill>
                <a:latin typeface="Times New Roman" panose="02020603050405020304" pitchFamily="18" charset="0"/>
                <a:cs typeface="Times New Roman" panose="02020603050405020304" pitchFamily="18" charset="0"/>
              </a:rPr>
            </a:br>
            <a:endParaRPr lang="en-IN"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582042"/>
            <a:ext cx="8360229" cy="4419600"/>
          </a:xfrm>
        </p:spPr>
        <p:txBody>
          <a:bodyPr>
            <a:noAutofit/>
          </a:bodyPr>
          <a:lstStyle/>
          <a:p>
            <a:pPr lvl="0" algn="just">
              <a:lnSpc>
                <a:spcPct val="150000"/>
              </a:lnSpc>
            </a:pPr>
            <a:r>
              <a:rPr lang="en-IN" sz="2000" dirty="0">
                <a:latin typeface="Times New Roman" panose="02020603050405020304" pitchFamily="18" charset="0"/>
                <a:cs typeface="Times New Roman" panose="02020603050405020304" pitchFamily="18" charset="0"/>
                <a:sym typeface="+mn-ea"/>
              </a:rPr>
              <a:t>Generate relevant product recommendations</a:t>
            </a:r>
            <a:endParaRPr lang="en-IN" sz="2000" dirty="0">
              <a:latin typeface="Times New Roman" panose="02020603050405020304" pitchFamily="18" charset="0"/>
              <a:cs typeface="Times New Roman" panose="02020603050405020304" pitchFamily="18" charset="0"/>
            </a:endParaRPr>
          </a:p>
          <a:p>
            <a:pPr lvl="0" algn="just">
              <a:lnSpc>
                <a:spcPct val="150000"/>
              </a:lnSpc>
            </a:pPr>
            <a:r>
              <a:rPr lang="en-IN" sz="2000" dirty="0">
                <a:latin typeface="Times New Roman" panose="02020603050405020304" pitchFamily="18" charset="0"/>
                <a:cs typeface="Times New Roman" panose="02020603050405020304" pitchFamily="18" charset="0"/>
                <a:sym typeface="+mn-ea"/>
              </a:rPr>
              <a:t>Rank products based on user </a:t>
            </a:r>
            <a:r>
              <a:rPr lang="en-IN" sz="2000" dirty="0" err="1">
                <a:latin typeface="Times New Roman" panose="02020603050405020304" pitchFamily="18" charset="0"/>
                <a:cs typeface="Times New Roman" panose="02020603050405020304" pitchFamily="18" charset="0"/>
                <a:sym typeface="+mn-ea"/>
              </a:rPr>
              <a:t>behavior</a:t>
            </a:r>
            <a:endParaRPr lang="en-IN" sz="2000" dirty="0">
              <a:latin typeface="Times New Roman" panose="02020603050405020304" pitchFamily="18" charset="0"/>
              <a:cs typeface="Times New Roman" panose="02020603050405020304" pitchFamily="18" charset="0"/>
            </a:endParaRPr>
          </a:p>
          <a:p>
            <a:pPr lvl="0" algn="just">
              <a:lnSpc>
                <a:spcPct val="150000"/>
              </a:lnSpc>
            </a:pPr>
            <a:r>
              <a:rPr lang="en-IN" sz="2000" dirty="0">
                <a:latin typeface="Times New Roman" panose="02020603050405020304" pitchFamily="18" charset="0"/>
                <a:cs typeface="Times New Roman" panose="02020603050405020304" pitchFamily="18" charset="0"/>
                <a:sym typeface="+mn-ea"/>
              </a:rPr>
              <a:t>Provide personalized recommendations</a:t>
            </a:r>
            <a:endParaRPr lang="en-IN" sz="2000" dirty="0">
              <a:latin typeface="Times New Roman" panose="02020603050405020304" pitchFamily="18" charset="0"/>
              <a:cs typeface="Times New Roman" panose="02020603050405020304" pitchFamily="18" charset="0"/>
            </a:endParaRPr>
          </a:p>
          <a:p>
            <a:pPr lvl="0" algn="just">
              <a:lnSpc>
                <a:spcPct val="150000"/>
              </a:lnSpc>
            </a:pPr>
            <a:r>
              <a:rPr lang="en-IN" sz="2000" dirty="0">
                <a:latin typeface="Times New Roman" panose="02020603050405020304" pitchFamily="18" charset="0"/>
                <a:cs typeface="Times New Roman" panose="02020603050405020304" pitchFamily="18" charset="0"/>
                <a:sym typeface="+mn-ea"/>
              </a:rPr>
              <a:t>Improve product discovery and customer experience</a:t>
            </a:r>
            <a:endParaRPr lang="en-IN" sz="2000" dirty="0">
              <a:latin typeface="Times New Roman" panose="02020603050405020304" pitchFamily="18" charset="0"/>
              <a:cs typeface="Times New Roman" panose="02020603050405020304" pitchFamily="18" charset="0"/>
            </a:endParaRPr>
          </a:p>
          <a:p>
            <a:pPr algn="just">
              <a:lnSpc>
                <a:spcPct val="150000"/>
              </a:lnSpc>
            </a:pPr>
            <a:endParaRPr lang="en-IN" sz="2000" dirty="0">
              <a:latin typeface="Times New Roman" panose="02020603050405020304" pitchFamily="18" charset="0"/>
              <a:cs typeface="Times New Roman" panose="02020603050405020304" pitchFamily="18" charset="0"/>
            </a:endParaRPr>
          </a:p>
          <a:p>
            <a:pPr lvl="0" algn="just">
              <a:lnSpc>
                <a:spcPct val="150000"/>
              </a:lnSpc>
            </a:pPr>
            <a:endParaRPr lang="en-IN" sz="20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478034"/>
            <a:ext cx="5791200" cy="381000"/>
          </a:xfrm>
        </p:spPr>
        <p:txBody>
          <a:bodyPr>
            <a:normAutofit fontScale="90000"/>
          </a:bodyPr>
          <a:lstStyle/>
          <a:p>
            <a:r>
              <a:rPr lang="en-IN" b="1" dirty="0">
                <a:solidFill>
                  <a:srgbClr val="0070C0"/>
                </a:solidFill>
                <a:latin typeface="Times New Roman" panose="02020603050405020304" pitchFamily="18" charset="0"/>
                <a:cs typeface="Times New Roman" panose="02020603050405020304" pitchFamily="18" charset="0"/>
              </a:rPr>
              <a:t>Literature Survey</a:t>
            </a:r>
            <a:endParaRPr lang="en-IN" b="1" dirty="0">
              <a:solidFill>
                <a:srgbClr val="0070C0"/>
              </a:solidFill>
              <a:latin typeface="Times New Roman" panose="02020603050405020304" pitchFamily="18" charset="0"/>
              <a:cs typeface="Times New Roman" panose="02020603050405020304" pitchFamily="18" charset="0"/>
            </a:endParaRPr>
          </a:p>
        </p:txBody>
      </p:sp>
      <p:graphicFrame>
        <p:nvGraphicFramePr>
          <p:cNvPr id="5" name="Content Placeholder 4"/>
          <p:cNvGraphicFramePr>
            <a:graphicFrameLocks noGrp="1"/>
          </p:cNvGraphicFramePr>
          <p:nvPr>
            <p:ph idx="1"/>
          </p:nvPr>
        </p:nvGraphicFramePr>
        <p:xfrm>
          <a:off x="106210" y="1092187"/>
          <a:ext cx="8961589" cy="5614939"/>
        </p:xfrm>
        <a:graphic>
          <a:graphicData uri="http://schemas.openxmlformats.org/drawingml/2006/table">
            <a:tbl>
              <a:tblPr>
                <a:tableStyleId>{5C22544A-7EE6-4342-B048-85BDC9FD1C3A}</a:tableStyleId>
              </a:tblPr>
              <a:tblGrid>
                <a:gridCol w="536163"/>
                <a:gridCol w="2349772"/>
                <a:gridCol w="2552294"/>
                <a:gridCol w="1017153"/>
                <a:gridCol w="2506207"/>
              </a:tblGrid>
              <a:tr h="269902">
                <a:tc>
                  <a:txBody>
                    <a:bodyPr/>
                    <a:lstStyle/>
                    <a:p>
                      <a:pPr>
                        <a:buNone/>
                      </a:pPr>
                      <a:r>
                        <a:rPr lang="en-IN" sz="1100">
                          <a:latin typeface="Times New Roman" panose="02020603050405020304" pitchFamily="18" charset="0"/>
                          <a:cs typeface="Times New Roman" panose="02020603050405020304" pitchFamily="18" charset="0"/>
                        </a:rPr>
                        <a:t>S.No</a:t>
                      </a:r>
                      <a:endParaRPr lang="en-IN" sz="1100">
                        <a:latin typeface="Times New Roman" panose="02020603050405020304" pitchFamily="18" charset="0"/>
                        <a:cs typeface="Times New Roman" panose="02020603050405020304" pitchFamily="18" charset="0"/>
                      </a:endParaRPr>
                    </a:p>
                  </a:txBody>
                  <a:tcPr anchor="ctr">
                    <a:solidFill>
                      <a:srgbClr val="0070C0"/>
                    </a:solidFill>
                  </a:tcPr>
                </a:tc>
                <a:tc>
                  <a:txBody>
                    <a:bodyPr/>
                    <a:lstStyle/>
                    <a:p>
                      <a:pPr>
                        <a:buNone/>
                      </a:pPr>
                      <a:r>
                        <a:rPr lang="en-IN" sz="1100" dirty="0">
                          <a:latin typeface="Times New Roman" panose="02020603050405020304" pitchFamily="18" charset="0"/>
                          <a:cs typeface="Times New Roman" panose="02020603050405020304" pitchFamily="18" charset="0"/>
                        </a:rPr>
                        <a:t>Research Paper</a:t>
                      </a:r>
                      <a:endParaRPr lang="en-IN" sz="1100" dirty="0">
                        <a:latin typeface="Times New Roman" panose="02020603050405020304" pitchFamily="18" charset="0"/>
                        <a:cs typeface="Times New Roman" panose="02020603050405020304" pitchFamily="18" charset="0"/>
                      </a:endParaRPr>
                    </a:p>
                  </a:txBody>
                  <a:tcPr anchor="ctr">
                    <a:solidFill>
                      <a:srgbClr val="0070C0"/>
                    </a:solidFill>
                  </a:tcPr>
                </a:tc>
                <a:tc>
                  <a:txBody>
                    <a:bodyPr/>
                    <a:lstStyle/>
                    <a:p>
                      <a:pPr>
                        <a:buNone/>
                      </a:pPr>
                      <a:r>
                        <a:rPr lang="en-IN" sz="1100">
                          <a:latin typeface="Times New Roman" panose="02020603050405020304" pitchFamily="18" charset="0"/>
                          <a:cs typeface="Times New Roman" panose="02020603050405020304" pitchFamily="18" charset="0"/>
                        </a:rPr>
                        <a:t>Author(s)</a:t>
                      </a:r>
                      <a:endParaRPr lang="en-IN" sz="1100">
                        <a:latin typeface="Times New Roman" panose="02020603050405020304" pitchFamily="18" charset="0"/>
                        <a:cs typeface="Times New Roman" panose="02020603050405020304" pitchFamily="18" charset="0"/>
                      </a:endParaRPr>
                    </a:p>
                  </a:txBody>
                  <a:tcPr anchor="ctr">
                    <a:solidFill>
                      <a:srgbClr val="0070C0"/>
                    </a:solidFill>
                  </a:tcPr>
                </a:tc>
                <a:tc>
                  <a:txBody>
                    <a:bodyPr/>
                    <a:lstStyle/>
                    <a:p>
                      <a:pPr>
                        <a:buNone/>
                      </a:pPr>
                      <a:r>
                        <a:rPr lang="en-IN" sz="1100" b="1">
                          <a:latin typeface="Times New Roman" panose="02020603050405020304" pitchFamily="18" charset="0"/>
                          <a:cs typeface="Times New Roman" panose="02020603050405020304" pitchFamily="18" charset="0"/>
                        </a:rPr>
                        <a:t>Actual Link</a:t>
                      </a:r>
                      <a:endParaRPr lang="en-IN" sz="1100">
                        <a:latin typeface="Times New Roman" panose="02020603050405020304" pitchFamily="18" charset="0"/>
                        <a:cs typeface="Times New Roman" panose="02020603050405020304" pitchFamily="18" charset="0"/>
                      </a:endParaRPr>
                    </a:p>
                  </a:txBody>
                  <a:tcPr anchor="ctr">
                    <a:solidFill>
                      <a:srgbClr val="0070C0"/>
                    </a:solidFill>
                  </a:tcPr>
                </a:tc>
                <a:tc>
                  <a:txBody>
                    <a:bodyPr/>
                    <a:lstStyle/>
                    <a:p>
                      <a:pPr>
                        <a:buNone/>
                      </a:pPr>
                      <a:r>
                        <a:rPr lang="en-IN" sz="1100">
                          <a:latin typeface="Times New Roman" panose="02020603050405020304" pitchFamily="18" charset="0"/>
                          <a:cs typeface="Times New Roman" panose="02020603050405020304" pitchFamily="18" charset="0"/>
                        </a:rPr>
                        <a:t>Drawback</a:t>
                      </a:r>
                      <a:endParaRPr lang="en-IN" sz="1100">
                        <a:latin typeface="Times New Roman" panose="02020603050405020304" pitchFamily="18" charset="0"/>
                        <a:cs typeface="Times New Roman" panose="02020603050405020304" pitchFamily="18" charset="0"/>
                      </a:endParaRPr>
                    </a:p>
                  </a:txBody>
                  <a:tcPr anchor="ctr">
                    <a:solidFill>
                      <a:srgbClr val="0070C0"/>
                    </a:solidFill>
                  </a:tcPr>
                </a:tc>
              </a:tr>
              <a:tr h="793825">
                <a:tc>
                  <a:txBody>
                    <a:bodyPr/>
                    <a:lstStyle/>
                    <a:p>
                      <a:pPr>
                        <a:buNone/>
                      </a:pPr>
                      <a:r>
                        <a:rPr lang="en-IN" sz="1100" b="1">
                          <a:latin typeface="Times New Roman" panose="02020603050405020304" pitchFamily="18" charset="0"/>
                          <a:cs typeface="Times New Roman" panose="02020603050405020304" pitchFamily="18" charset="0"/>
                        </a:rPr>
                        <a:t>1.</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dirty="0">
                          <a:latin typeface="Times New Roman" panose="02020603050405020304" pitchFamily="18" charset="0"/>
                          <a:cs typeface="Times New Roman" panose="02020603050405020304" pitchFamily="18" charset="0"/>
                        </a:rPr>
                        <a:t>Toward the Next Generation of Recommender Systems: A Survey</a:t>
                      </a:r>
                      <a:endParaRPr lang="en-IN" sz="11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rPr>
                        <a:t>Gediminas Adomavicius, Alexander Tuzhilin</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hlinkClick r:id="rId1"/>
                        </a:rPr>
                        <a:t>https://doi.org/10.1109/TKDE.2005.99</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rPr>
                        <a:t>Provides a broad overview of recommendation techniques, but does not focus on one specific e-commerce application. (</a:t>
                      </a:r>
                      <a:r>
                        <a:rPr lang="en-IN" sz="1100">
                          <a:latin typeface="Times New Roman" panose="02020603050405020304" pitchFamily="18" charset="0"/>
                          <a:cs typeface="Times New Roman" panose="02020603050405020304" pitchFamily="18" charset="0"/>
                          <a:hlinkClick r:id="rId2" tooltip="Sistema de recomendación"/>
                        </a:rPr>
                        <a:t>Wikipedia</a:t>
                      </a:r>
                      <a:r>
                        <a:rPr lang="en-IN" sz="1100">
                          <a:latin typeface="Times New Roman" panose="02020603050405020304" pitchFamily="18" charset="0"/>
                          <a:cs typeface="Times New Roman" panose="02020603050405020304" pitchFamily="18" charset="0"/>
                        </a:rPr>
                        <a:t>)</a:t>
                      </a:r>
                      <a:endParaRPr lang="en-IN" sz="1100">
                        <a:latin typeface="Times New Roman" panose="02020603050405020304" pitchFamily="18" charset="0"/>
                        <a:cs typeface="Times New Roman" panose="02020603050405020304" pitchFamily="18" charset="0"/>
                      </a:endParaRPr>
                    </a:p>
                  </a:txBody>
                  <a:tcPr anchor="ctr"/>
                </a:tc>
              </a:tr>
              <a:tr h="968467">
                <a:tc>
                  <a:txBody>
                    <a:bodyPr/>
                    <a:lstStyle/>
                    <a:p>
                      <a:pPr>
                        <a:buNone/>
                      </a:pPr>
                      <a:r>
                        <a:rPr lang="en-IN" sz="1100" b="1">
                          <a:latin typeface="Times New Roman" panose="02020603050405020304" pitchFamily="18" charset="0"/>
                          <a:cs typeface="Times New Roman" panose="02020603050405020304" pitchFamily="18" charset="0"/>
                        </a:rPr>
                        <a:t>2.</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rPr>
                        <a:t>Amazon.com Recommendations: Item-to-Item Collaborative Filtering</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rPr>
                        <a:t>Greg Linden, Brent Smith, Jeremy York</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hlinkClick r:id="rId3"/>
                        </a:rPr>
                        <a:t>https://doi.org/10.1109/MIC.2003.1167344</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rPr>
                        <a:t>Works well for large-scale recommendations, but mainly focuses on item-to-item relationships and may not fully capture complex user preferences. (</a:t>
                      </a:r>
                      <a:r>
                        <a:rPr lang="en-IN" sz="1100">
                          <a:latin typeface="Times New Roman" panose="02020603050405020304" pitchFamily="18" charset="0"/>
                          <a:cs typeface="Times New Roman" panose="02020603050405020304" pitchFamily="18" charset="0"/>
                          <a:hlinkClick r:id="rId4" tooltip="Amazon.com recommendations: item-to-item collaborative filtering | IEEE Journals &amp; Magazine | IEEE Xplore"/>
                        </a:rPr>
                        <a:t>IEEE Xplore</a:t>
                      </a:r>
                      <a:r>
                        <a:rPr lang="en-IN" sz="1100">
                          <a:latin typeface="Times New Roman" panose="02020603050405020304" pitchFamily="18" charset="0"/>
                          <a:cs typeface="Times New Roman" panose="02020603050405020304" pitchFamily="18" charset="0"/>
                        </a:rPr>
                        <a:t>)</a:t>
                      </a:r>
                      <a:endParaRPr lang="en-IN" sz="1100">
                        <a:latin typeface="Times New Roman" panose="02020603050405020304" pitchFamily="18" charset="0"/>
                        <a:cs typeface="Times New Roman" panose="02020603050405020304" pitchFamily="18" charset="0"/>
                      </a:endParaRPr>
                    </a:p>
                  </a:txBody>
                  <a:tcPr anchor="ctr"/>
                </a:tc>
              </a:tr>
              <a:tr h="903731">
                <a:tc>
                  <a:txBody>
                    <a:bodyPr/>
                    <a:lstStyle/>
                    <a:p>
                      <a:pPr>
                        <a:buNone/>
                      </a:pPr>
                      <a:r>
                        <a:rPr lang="en-IN" sz="1100" b="1">
                          <a:latin typeface="Times New Roman" panose="02020603050405020304" pitchFamily="18" charset="0"/>
                          <a:cs typeface="Times New Roman" panose="02020603050405020304" pitchFamily="18" charset="0"/>
                        </a:rPr>
                        <a:t>3.</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rPr>
                        <a:t>Collaborative Filtering for Implicit Feedback Datasets</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rPr>
                        <a:t>Yifan Hu, Yehuda Koren, Chris Volinsky</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hlinkClick r:id="rId5"/>
                        </a:rPr>
                        <a:t>https://doi.org/10.1109/ICDM.2008.22</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rPr>
                        <a:t>Uses implicit user feedback such as views and purchases, but implicit feedback does not always indicate whether a user actually liked a product. (</a:t>
                      </a:r>
                      <a:r>
                        <a:rPr lang="en-IN" sz="1100">
                          <a:latin typeface="Times New Roman" panose="02020603050405020304" pitchFamily="18" charset="0"/>
                          <a:cs typeface="Times New Roman" panose="02020603050405020304" pitchFamily="18" charset="0"/>
                          <a:hlinkClick r:id="rId6" tooltip="Collaborative Filtering for Implicit Feedback Datasets | CiNii Research"/>
                        </a:rPr>
                        <a:t>CiNii Research</a:t>
                      </a:r>
                      <a:r>
                        <a:rPr lang="en-IN" sz="1100">
                          <a:latin typeface="Times New Roman" panose="02020603050405020304" pitchFamily="18" charset="0"/>
                          <a:cs typeface="Times New Roman" panose="02020603050405020304" pitchFamily="18" charset="0"/>
                        </a:rPr>
                        <a:t>)</a:t>
                      </a:r>
                      <a:endParaRPr lang="en-IN" sz="1100">
                        <a:latin typeface="Times New Roman" panose="02020603050405020304" pitchFamily="18" charset="0"/>
                        <a:cs typeface="Times New Roman" panose="02020603050405020304" pitchFamily="18" charset="0"/>
                      </a:endParaRPr>
                    </a:p>
                  </a:txBody>
                  <a:tcPr anchor="ctr"/>
                </a:tc>
              </a:tr>
              <a:tr h="903731">
                <a:tc>
                  <a:txBody>
                    <a:bodyPr/>
                    <a:lstStyle/>
                    <a:p>
                      <a:pPr>
                        <a:buNone/>
                      </a:pPr>
                      <a:r>
                        <a:rPr lang="en-IN" sz="1100" b="1">
                          <a:latin typeface="Times New Roman" panose="02020603050405020304" pitchFamily="18" charset="0"/>
                          <a:cs typeface="Times New Roman" panose="02020603050405020304" pitchFamily="18" charset="0"/>
                        </a:rPr>
                        <a:t>4.</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rPr>
                        <a:t>Matrix Factorization Techniques for Recommender Systems</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rPr>
                        <a:t>Yehuda Koren, Robert Bell, Chris Volinsky</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hlinkClick r:id="rId7"/>
                        </a:rPr>
                        <a:t>https://doi.org/10.1109/MC.2009.263</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rPr>
                        <a:t>Provides effective recommendations, but matrix factorization can have difficulty with new users or new products due to the cold-start problem. (</a:t>
                      </a:r>
                      <a:r>
                        <a:rPr lang="en-IN" sz="1100">
                          <a:latin typeface="Times New Roman" panose="02020603050405020304" pitchFamily="18" charset="0"/>
                          <a:cs typeface="Times New Roman" panose="02020603050405020304" pitchFamily="18" charset="0"/>
                          <a:hlinkClick r:id="rId8" tooltip="Matrix Factorization Techniques for Recommender Systems"/>
                        </a:rPr>
                        <a:t>OA Monitor Ireland</a:t>
                      </a:r>
                      <a:r>
                        <a:rPr lang="en-IN" sz="1100">
                          <a:latin typeface="Times New Roman" panose="02020603050405020304" pitchFamily="18" charset="0"/>
                          <a:cs typeface="Times New Roman" panose="02020603050405020304" pitchFamily="18" charset="0"/>
                        </a:rPr>
                        <a:t>)</a:t>
                      </a:r>
                      <a:endParaRPr lang="en-IN" sz="1100">
                        <a:latin typeface="Times New Roman" panose="02020603050405020304" pitchFamily="18" charset="0"/>
                        <a:cs typeface="Times New Roman" panose="02020603050405020304" pitchFamily="18" charset="0"/>
                      </a:endParaRPr>
                    </a:p>
                  </a:txBody>
                  <a:tcPr anchor="ctr"/>
                </a:tc>
              </a:tr>
              <a:tr h="793825">
                <a:tc>
                  <a:txBody>
                    <a:bodyPr/>
                    <a:lstStyle/>
                    <a:p>
                      <a:pPr>
                        <a:buNone/>
                      </a:pPr>
                      <a:r>
                        <a:rPr lang="en-IN" sz="1100" b="1">
                          <a:latin typeface="Times New Roman" panose="02020603050405020304" pitchFamily="18" charset="0"/>
                          <a:cs typeface="Times New Roman" panose="02020603050405020304" pitchFamily="18" charset="0"/>
                        </a:rPr>
                        <a:t>5.</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rPr>
                        <a:t>Deep Neural Networks for YouTube Recommendations</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rPr>
                        <a:t>Paul Covington, Jay Adams, Emre Sargin</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hlinkClick r:id="rId9"/>
                        </a:rPr>
                        <a:t>https://doi.org/10.1145/2959100.2959190</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rPr>
                        <a:t>Uses deep learning for candidate generation and ranking, but requires large amounts of data and computational resources. (</a:t>
                      </a:r>
                      <a:r>
                        <a:rPr lang="en-IN" sz="1100">
                          <a:latin typeface="Times New Roman" panose="02020603050405020304" pitchFamily="18" charset="0"/>
                          <a:cs typeface="Times New Roman" panose="02020603050405020304" pitchFamily="18" charset="0"/>
                          <a:hlinkClick r:id="rId10" tooltip="Deep Neural Networks for YouTube Recommendations | Proceedings of the 10th ACM Conference on Recommender Systems"/>
                        </a:rPr>
                        <a:t>DOI</a:t>
                      </a:r>
                      <a:r>
                        <a:rPr lang="en-IN" sz="1100">
                          <a:latin typeface="Times New Roman" panose="02020603050405020304" pitchFamily="18" charset="0"/>
                          <a:cs typeface="Times New Roman" panose="02020603050405020304" pitchFamily="18" charset="0"/>
                        </a:rPr>
                        <a:t>)</a:t>
                      </a:r>
                      <a:endParaRPr lang="en-IN" sz="1100">
                        <a:latin typeface="Times New Roman" panose="02020603050405020304" pitchFamily="18" charset="0"/>
                        <a:cs typeface="Times New Roman" panose="02020603050405020304" pitchFamily="18" charset="0"/>
                      </a:endParaRPr>
                    </a:p>
                  </a:txBody>
                  <a:tcPr anchor="ctr"/>
                </a:tc>
              </a:tr>
              <a:tr h="903731">
                <a:tc>
                  <a:txBody>
                    <a:bodyPr/>
                    <a:lstStyle/>
                    <a:p>
                      <a:pPr>
                        <a:buNone/>
                      </a:pPr>
                      <a:r>
                        <a:rPr lang="en-IN" sz="1100" b="1">
                          <a:latin typeface="Times New Roman" panose="02020603050405020304" pitchFamily="18" charset="0"/>
                          <a:cs typeface="Times New Roman" panose="02020603050405020304" pitchFamily="18" charset="0"/>
                        </a:rPr>
                        <a:t>6.</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rPr>
                        <a:t>Neural Collaborative Filtering</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rPr>
                        <a:t>Xiangnan He, Lizi Liao, Hanwang Zhang, Liqiang Nie, Xia Hu, Tat-Seng Chua</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hlinkClick r:id="rId11"/>
                        </a:rPr>
                        <a:t>https://doi.org/10.1145/3038912.3052569</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dirty="0">
                          <a:latin typeface="Times New Roman" panose="02020603050405020304" pitchFamily="18" charset="0"/>
                          <a:cs typeface="Times New Roman" panose="02020603050405020304" pitchFamily="18" charset="0"/>
                        </a:rPr>
                        <a:t>Improves recommendation using neural networks, but the model is more complex and requires more computation than traditional methods. (</a:t>
                      </a:r>
                      <a:r>
                        <a:rPr lang="en-IN" sz="1100" dirty="0">
                          <a:latin typeface="Times New Roman" panose="02020603050405020304" pitchFamily="18" charset="0"/>
                          <a:cs typeface="Times New Roman" panose="02020603050405020304" pitchFamily="18" charset="0"/>
                          <a:hlinkClick r:id="rId12" tooltip="Neural Collaborative Filtering | Proceedings of the 26th ..."/>
                        </a:rPr>
                        <a:t>ACM Digital Library</a:t>
                      </a:r>
                      <a:r>
                        <a:rPr lang="en-IN" sz="1100" dirty="0">
                          <a:latin typeface="Times New Roman" panose="02020603050405020304" pitchFamily="18" charset="0"/>
                          <a:cs typeface="Times New Roman" panose="02020603050405020304" pitchFamily="18" charset="0"/>
                        </a:rPr>
                        <a:t>)</a:t>
                      </a:r>
                      <a:endParaRPr lang="en-IN" sz="1100" dirty="0">
                        <a:latin typeface="Times New Roman" panose="02020603050405020304" pitchFamily="18" charset="0"/>
                        <a:cs typeface="Times New Roman" panose="02020603050405020304" pitchFamily="18" charset="0"/>
                      </a:endParaRPr>
                    </a:p>
                  </a:txBody>
                  <a:tcPr anchor="ctr"/>
                </a:tc>
              </a:tr>
            </a:tbl>
          </a:graphicData>
        </a:graphic>
      </p:graphicFrame>
      <p:pic>
        <p:nvPicPr>
          <p:cNvPr id="4" name="Picture 3"/>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06210" y="63507"/>
            <a:ext cx="1874990" cy="93978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288019"/>
            <a:ext cx="8229600" cy="1143000"/>
          </a:xfrm>
        </p:spPr>
        <p:txBody>
          <a:bodyPr/>
          <a:lstStyle/>
          <a:p>
            <a:r>
              <a:rPr lang="en-IN" b="1" dirty="0">
                <a:solidFill>
                  <a:srgbClr val="0070C0"/>
                </a:solidFill>
                <a:latin typeface="Times New Roman" panose="02020603050405020304" pitchFamily="18" charset="0"/>
                <a:cs typeface="Times New Roman" panose="02020603050405020304" pitchFamily="18" charset="0"/>
              </a:rPr>
              <a:t>System Architecture</a:t>
            </a:r>
            <a:endParaRPr lang="en-IN" b="1" dirty="0">
              <a:solidFill>
                <a:srgbClr val="0070C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pic>
        <p:nvPicPr>
          <p:cNvPr id="3" name="Picture 2" descr="E-commerce Recommendation Pipeline Architecture"/>
          <p:cNvPicPr>
            <a:picLocks noChangeAspect="1"/>
          </p:cNvPicPr>
          <p:nvPr/>
        </p:nvPicPr>
        <p:blipFill>
          <a:blip r:embed="rId2"/>
          <a:srcRect t="5000" b="38333"/>
          <a:stretch>
            <a:fillRect/>
          </a:stretch>
        </p:blipFill>
        <p:spPr>
          <a:xfrm>
            <a:off x="762000" y="1828800"/>
            <a:ext cx="7853045" cy="381127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642810"/>
            <a:ext cx="8229600" cy="655638"/>
          </a:xfrm>
        </p:spPr>
        <p:txBody>
          <a:bodyPr>
            <a:normAutofit/>
          </a:bodyPr>
          <a:lstStyle/>
          <a:p>
            <a:r>
              <a:rPr lang="en-IN" sz="3600" b="1" dirty="0">
                <a:solidFill>
                  <a:srgbClr val="0070C0"/>
                </a:solidFill>
                <a:latin typeface="Times New Roman" panose="02020603050405020304" pitchFamily="18" charset="0"/>
                <a:cs typeface="Times New Roman" panose="02020603050405020304" pitchFamily="18" charset="0"/>
              </a:rPr>
              <a:t>Methodology</a:t>
            </a: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33400" y="1295400"/>
            <a:ext cx="8305800" cy="5486400"/>
          </a:xfrm>
        </p:spPr>
        <p:txBody>
          <a:bodyPr>
            <a:noAutofit/>
          </a:bodyPr>
          <a:lstStyle/>
          <a:p>
            <a:pPr algn="just"/>
            <a:endParaRPr lang="en-IN" sz="1600" b="1" dirty="0">
              <a:latin typeface="Times New Roman" panose="02020603050405020304" pitchFamily="18" charset="0"/>
              <a:cs typeface="Times New Roman" panose="02020603050405020304" pitchFamily="18" charset="0"/>
            </a:endParaRPr>
          </a:p>
          <a:p>
            <a:pPr marL="0" indent="0" algn="just">
              <a:buNone/>
            </a:pPr>
            <a:r>
              <a:rPr lang="en-IN" sz="1600" b="1" dirty="0">
                <a:latin typeface="Times New Roman" panose="02020603050405020304" pitchFamily="18" charset="0"/>
                <a:cs typeface="Times New Roman" panose="02020603050405020304" pitchFamily="18" charset="0"/>
              </a:rPr>
              <a:t>Collect user and product activity data:</a:t>
            </a:r>
            <a:endParaRPr lang="en-IN" sz="1600" dirty="0">
              <a:latin typeface="Times New Roman" panose="02020603050405020304" pitchFamily="18" charset="0"/>
              <a:cs typeface="Times New Roman" panose="02020603050405020304" pitchFamily="18" charset="0"/>
            </a:endParaRPr>
          </a:p>
          <a:p>
            <a:pPr marL="0" indent="0" algn="just">
              <a:buNone/>
            </a:pPr>
            <a:r>
              <a:rPr lang="en-IN" sz="1600" dirty="0">
                <a:latin typeface="Times New Roman" panose="02020603050405020304" pitchFamily="18" charset="0"/>
                <a:cs typeface="Times New Roman" panose="02020603050405020304" pitchFamily="18" charset="0"/>
              </a:rPr>
              <a:t>Gather information about user interactions, product details, views, clicks, and purchase history.</a:t>
            </a:r>
            <a:endParaRPr lang="en-IN" sz="1600" dirty="0">
              <a:latin typeface="Times New Roman" panose="02020603050405020304" pitchFamily="18" charset="0"/>
              <a:cs typeface="Times New Roman" panose="02020603050405020304" pitchFamily="18" charset="0"/>
            </a:endParaRPr>
          </a:p>
          <a:p>
            <a:pPr algn="just"/>
            <a:endParaRPr lang="en-IN" sz="1600" dirty="0">
              <a:latin typeface="Times New Roman" panose="02020603050405020304" pitchFamily="18" charset="0"/>
              <a:cs typeface="Times New Roman" panose="02020603050405020304" pitchFamily="18" charset="0"/>
            </a:endParaRPr>
          </a:p>
          <a:p>
            <a:pPr marL="0" indent="0" algn="just">
              <a:buNone/>
            </a:pPr>
            <a:r>
              <a:rPr lang="en-IN" sz="1600" b="1" dirty="0">
                <a:latin typeface="Times New Roman" panose="02020603050405020304" pitchFamily="18" charset="0"/>
                <a:cs typeface="Times New Roman" panose="02020603050405020304" pitchFamily="18" charset="0"/>
              </a:rPr>
              <a:t>Clean and preprocess the data:</a:t>
            </a:r>
            <a:endParaRPr lang="en-IN" sz="1600" dirty="0">
              <a:latin typeface="Times New Roman" panose="02020603050405020304" pitchFamily="18" charset="0"/>
              <a:cs typeface="Times New Roman" panose="02020603050405020304" pitchFamily="18" charset="0"/>
            </a:endParaRPr>
          </a:p>
          <a:p>
            <a:pPr marL="0" indent="0" algn="just">
              <a:buNone/>
            </a:pPr>
            <a:r>
              <a:rPr lang="en-IN" sz="1600" dirty="0">
                <a:latin typeface="Times New Roman" panose="02020603050405020304" pitchFamily="18" charset="0"/>
                <a:cs typeface="Times New Roman" panose="02020603050405020304" pitchFamily="18" charset="0"/>
              </a:rPr>
              <a:t>Remove missing values, duplicates, and unnecessary data. Convert the data into a suitable format for analysis.</a:t>
            </a:r>
            <a:endParaRPr lang="en-IN" sz="1600" dirty="0">
              <a:latin typeface="Times New Roman" panose="02020603050405020304" pitchFamily="18" charset="0"/>
              <a:cs typeface="Times New Roman" panose="02020603050405020304" pitchFamily="18" charset="0"/>
            </a:endParaRPr>
          </a:p>
          <a:p>
            <a:pPr algn="just"/>
            <a:endParaRPr lang="en-IN" sz="1600" dirty="0">
              <a:latin typeface="Times New Roman" panose="02020603050405020304" pitchFamily="18" charset="0"/>
              <a:cs typeface="Times New Roman" panose="02020603050405020304" pitchFamily="18" charset="0"/>
            </a:endParaRPr>
          </a:p>
          <a:p>
            <a:pPr marL="0" indent="0" algn="just">
              <a:buNone/>
            </a:pPr>
            <a:r>
              <a:rPr lang="en-IN" sz="1600" b="1" dirty="0" err="1">
                <a:latin typeface="Times New Roman" panose="02020603050405020304" pitchFamily="18" charset="0"/>
                <a:cs typeface="Times New Roman" panose="02020603050405020304" pitchFamily="18" charset="0"/>
              </a:rPr>
              <a:t>Analyze</a:t>
            </a:r>
            <a:r>
              <a:rPr lang="en-IN" sz="1600" b="1" dirty="0">
                <a:latin typeface="Times New Roman" panose="02020603050405020304" pitchFamily="18" charset="0"/>
                <a:cs typeface="Times New Roman" panose="02020603050405020304" pitchFamily="18" charset="0"/>
              </a:rPr>
              <a:t> customer interests and preferences:</a:t>
            </a:r>
            <a:endParaRPr lang="en-IN" sz="1600" dirty="0">
              <a:latin typeface="Times New Roman" panose="02020603050405020304" pitchFamily="18" charset="0"/>
              <a:cs typeface="Times New Roman" panose="02020603050405020304" pitchFamily="18" charset="0"/>
            </a:endParaRPr>
          </a:p>
          <a:p>
            <a:pPr marL="0" indent="0" algn="just">
              <a:buNone/>
            </a:pPr>
            <a:r>
              <a:rPr lang="en-IN" sz="1600" dirty="0">
                <a:latin typeface="Times New Roman" panose="02020603050405020304" pitchFamily="18" charset="0"/>
                <a:cs typeface="Times New Roman" panose="02020603050405020304" pitchFamily="18" charset="0"/>
              </a:rPr>
              <a:t>Study user </a:t>
            </a:r>
            <a:r>
              <a:rPr lang="en-IN" sz="1600" dirty="0" err="1">
                <a:latin typeface="Times New Roman" panose="02020603050405020304" pitchFamily="18" charset="0"/>
                <a:cs typeface="Times New Roman" panose="02020603050405020304" pitchFamily="18" charset="0"/>
              </a:rPr>
              <a:t>behavior</a:t>
            </a:r>
            <a:r>
              <a:rPr lang="en-IN" sz="1600" dirty="0">
                <a:latin typeface="Times New Roman" panose="02020603050405020304" pitchFamily="18" charset="0"/>
                <a:cs typeface="Times New Roman" panose="02020603050405020304" pitchFamily="18" charset="0"/>
              </a:rPr>
              <a:t> to understand their interests and identify products they may prefer.</a:t>
            </a:r>
            <a:endParaRPr lang="en-IN" sz="1600" dirty="0">
              <a:latin typeface="Times New Roman" panose="02020603050405020304" pitchFamily="18" charset="0"/>
              <a:cs typeface="Times New Roman" panose="02020603050405020304" pitchFamily="18" charset="0"/>
            </a:endParaRPr>
          </a:p>
          <a:p>
            <a:pPr algn="just"/>
            <a:endParaRPr lang="en-IN" sz="1600" dirty="0">
              <a:latin typeface="Times New Roman" panose="02020603050405020304" pitchFamily="18" charset="0"/>
              <a:cs typeface="Times New Roman" panose="02020603050405020304" pitchFamily="18" charset="0"/>
            </a:endParaRPr>
          </a:p>
          <a:p>
            <a:pPr marL="0" indent="0" algn="just">
              <a:buNone/>
            </a:pPr>
            <a:r>
              <a:rPr lang="en-IN" sz="1600" b="1" dirty="0">
                <a:latin typeface="Times New Roman" panose="02020603050405020304" pitchFamily="18" charset="0"/>
                <a:cs typeface="Times New Roman" panose="02020603050405020304" pitchFamily="18" charset="0"/>
              </a:rPr>
              <a:t>Generate and rank relevant product recommendations:</a:t>
            </a:r>
            <a:endParaRPr lang="en-IN" sz="1600" dirty="0">
              <a:latin typeface="Times New Roman" panose="02020603050405020304" pitchFamily="18" charset="0"/>
              <a:cs typeface="Times New Roman" panose="02020603050405020304" pitchFamily="18" charset="0"/>
            </a:endParaRPr>
          </a:p>
          <a:p>
            <a:pPr marL="0" indent="0" algn="just">
              <a:buNone/>
            </a:pPr>
            <a:r>
              <a:rPr lang="en-IN" sz="1600" dirty="0">
                <a:latin typeface="Times New Roman" panose="02020603050405020304" pitchFamily="18" charset="0"/>
                <a:cs typeface="Times New Roman" panose="02020603050405020304" pitchFamily="18" charset="0"/>
              </a:rPr>
              <a:t>Use recommendation algorithms to find suitable products and rank them based on user preferences and product relevance.</a:t>
            </a:r>
            <a:endParaRPr lang="en-IN" sz="1600" dirty="0">
              <a:latin typeface="Times New Roman" panose="02020603050405020304" pitchFamily="18" charset="0"/>
              <a:cs typeface="Times New Roman" panose="02020603050405020304" pitchFamily="18" charset="0"/>
            </a:endParaRPr>
          </a:p>
          <a:p>
            <a:pPr algn="just"/>
            <a:endParaRPr lang="en-IN" sz="1600" dirty="0">
              <a:latin typeface="Times New Roman" panose="02020603050405020304" pitchFamily="18" charset="0"/>
              <a:cs typeface="Times New Roman" panose="02020603050405020304" pitchFamily="18" charset="0"/>
            </a:endParaRPr>
          </a:p>
          <a:p>
            <a:pPr marL="0" indent="0" algn="just">
              <a:buNone/>
            </a:pPr>
            <a:r>
              <a:rPr lang="en-IN" sz="1600" b="1" dirty="0">
                <a:latin typeface="Times New Roman" panose="02020603050405020304" pitchFamily="18" charset="0"/>
                <a:cs typeface="Times New Roman" panose="02020603050405020304" pitchFamily="18" charset="0"/>
              </a:rPr>
              <a:t>Display personalized recommendations:</a:t>
            </a:r>
            <a:endParaRPr lang="en-IN" sz="1600" dirty="0">
              <a:latin typeface="Times New Roman" panose="02020603050405020304" pitchFamily="18" charset="0"/>
              <a:cs typeface="Times New Roman" panose="02020603050405020304" pitchFamily="18" charset="0"/>
            </a:endParaRPr>
          </a:p>
          <a:p>
            <a:pPr marL="0" indent="0" algn="just">
              <a:buNone/>
            </a:pPr>
            <a:r>
              <a:rPr lang="en-IN" sz="1600" dirty="0">
                <a:latin typeface="Times New Roman" panose="02020603050405020304" pitchFamily="18" charset="0"/>
                <a:cs typeface="Times New Roman" panose="02020603050405020304" pitchFamily="18" charset="0"/>
              </a:rPr>
              <a:t>Present the recommended products to users through the e-commerce platform to improve product discovery and shopping experience.</a:t>
            </a:r>
            <a:endParaRPr lang="en-IN" sz="1600" dirty="0">
              <a:latin typeface="Times New Roman" panose="02020603050405020304" pitchFamily="18" charset="0"/>
              <a:cs typeface="Times New Roman" panose="02020603050405020304" pitchFamily="18" charset="0"/>
            </a:endParaRPr>
          </a:p>
          <a:p>
            <a:pPr algn="just"/>
            <a:endParaRPr lang="en-IN" sz="1600" b="1"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495300"/>
            <a:ext cx="8229600" cy="1143000"/>
          </a:xfrm>
        </p:spPr>
        <p:txBody>
          <a:bodyPr>
            <a:normAutofit/>
          </a:bodyPr>
          <a:lstStyle/>
          <a:p>
            <a:r>
              <a:rPr lang="en-IN" b="1" dirty="0">
                <a:solidFill>
                  <a:srgbClr val="0070C0"/>
                </a:solidFill>
                <a:latin typeface="Times New Roman" panose="02020603050405020304" pitchFamily="18" charset="0"/>
                <a:cs typeface="Times New Roman" panose="02020603050405020304" pitchFamily="18" charset="0"/>
              </a:rPr>
              <a:t>Technologies and Tools</a:t>
            </a:r>
            <a:endParaRPr lang="en-IN" dirty="0"/>
          </a:p>
        </p:txBody>
      </p:sp>
      <p:sp>
        <p:nvSpPr>
          <p:cNvPr id="3" name="Content Placeholder 2"/>
          <p:cNvSpPr>
            <a:spLocks noGrp="1"/>
          </p:cNvSpPr>
          <p:nvPr>
            <p:ph idx="1"/>
          </p:nvPr>
        </p:nvSpPr>
        <p:spPr>
          <a:xfrm>
            <a:off x="838200" y="1676400"/>
            <a:ext cx="8229600" cy="4525963"/>
          </a:xfrm>
        </p:spPr>
        <p:txBody>
          <a:bodyPr>
            <a:noAutofit/>
          </a:bodyPr>
          <a:lstStyle/>
          <a:p>
            <a:pPr marL="0" indent="0" algn="just">
              <a:lnSpc>
                <a:spcPct val="110000"/>
              </a:lnSpc>
              <a:buNone/>
            </a:pPr>
            <a:r>
              <a:rPr lang="en-IN" sz="1200" b="1" dirty="0">
                <a:latin typeface="Times New Roman" panose="02020603050405020304" pitchFamily="18" charset="0"/>
                <a:cs typeface="Times New Roman" panose="02020603050405020304" pitchFamily="18" charset="0"/>
              </a:rPr>
              <a:t>Technologies Used</a:t>
            </a:r>
            <a:endParaRPr lang="en-IN" sz="1200" b="1" dirty="0">
              <a:latin typeface="Times New Roman" panose="02020603050405020304" pitchFamily="18" charset="0"/>
              <a:cs typeface="Times New Roman" panose="02020603050405020304" pitchFamily="18" charset="0"/>
            </a:endParaRPr>
          </a:p>
          <a:p>
            <a:pPr marL="0" indent="0" algn="just">
              <a:lnSpc>
                <a:spcPct val="110000"/>
              </a:lnSpc>
              <a:buNone/>
            </a:pPr>
            <a:r>
              <a:rPr lang="en-US" altLang="en-US" sz="1200" b="1" dirty="0">
                <a:latin typeface="Times New Roman" panose="02020603050405020304" pitchFamily="18" charset="0"/>
                <a:cs typeface="Times New Roman" panose="02020603050405020304" pitchFamily="18" charset="0"/>
              </a:rPr>
              <a:t>1. Python</a:t>
            </a:r>
            <a:endParaRPr lang="en-US" altLang="en-US" sz="1200" b="1" dirty="0">
              <a:latin typeface="Times New Roman" panose="02020603050405020304" pitchFamily="18" charset="0"/>
              <a:cs typeface="Times New Roman" panose="02020603050405020304" pitchFamily="18" charset="0"/>
            </a:endParaRPr>
          </a:p>
          <a:p>
            <a:pPr marL="0" indent="0" algn="just">
              <a:lnSpc>
                <a:spcPct val="110000"/>
              </a:lnSpc>
              <a:buNone/>
            </a:pPr>
            <a:r>
              <a:rPr lang="en-US" altLang="en-US" sz="1200" dirty="0">
                <a:latin typeface="Times New Roman" panose="02020603050405020304" pitchFamily="18" charset="0"/>
                <a:cs typeface="Times New Roman" panose="02020603050405020304" pitchFamily="18" charset="0"/>
              </a:rPr>
              <a:t>Main programming language for data processing and recommendation logic.</a:t>
            </a:r>
            <a:endParaRPr lang="en-US" altLang="en-US" sz="1200" dirty="0">
              <a:latin typeface="Times New Roman" panose="02020603050405020304" pitchFamily="18" charset="0"/>
              <a:cs typeface="Times New Roman" panose="02020603050405020304" pitchFamily="18" charset="0"/>
            </a:endParaRPr>
          </a:p>
          <a:p>
            <a:pPr marL="0" indent="0" algn="just">
              <a:lnSpc>
                <a:spcPct val="110000"/>
              </a:lnSpc>
              <a:buNone/>
            </a:pPr>
            <a:r>
              <a:rPr lang="en-US" altLang="en-US" sz="1200" b="1" dirty="0">
                <a:latin typeface="Times New Roman" panose="02020603050405020304" pitchFamily="18" charset="0"/>
                <a:cs typeface="Times New Roman" panose="02020603050405020304" pitchFamily="18" charset="0"/>
              </a:rPr>
              <a:t>2. Apache Spark (PySpark)</a:t>
            </a:r>
            <a:endParaRPr lang="en-US" altLang="en-US" sz="1200" b="1" dirty="0">
              <a:latin typeface="Times New Roman" panose="02020603050405020304" pitchFamily="18" charset="0"/>
              <a:cs typeface="Times New Roman" panose="02020603050405020304" pitchFamily="18" charset="0"/>
            </a:endParaRPr>
          </a:p>
          <a:p>
            <a:pPr marL="0" indent="0" algn="just">
              <a:lnSpc>
                <a:spcPct val="110000"/>
              </a:lnSpc>
              <a:buNone/>
            </a:pPr>
            <a:r>
              <a:rPr lang="en-US" altLang="en-US" sz="1200" dirty="0">
                <a:latin typeface="Times New Roman" panose="02020603050405020304" pitchFamily="18" charset="0"/>
                <a:cs typeface="Times New Roman" panose="02020603050405020304" pitchFamily="18" charset="0"/>
              </a:rPr>
              <a:t>Processes large datasets and builds the recommendation model.</a:t>
            </a:r>
            <a:endParaRPr lang="en-US" altLang="en-US" sz="1200" dirty="0">
              <a:latin typeface="Times New Roman" panose="02020603050405020304" pitchFamily="18" charset="0"/>
              <a:cs typeface="Times New Roman" panose="02020603050405020304" pitchFamily="18" charset="0"/>
            </a:endParaRPr>
          </a:p>
          <a:p>
            <a:pPr marL="0" indent="0" algn="just">
              <a:lnSpc>
                <a:spcPct val="110000"/>
              </a:lnSpc>
              <a:buNone/>
            </a:pPr>
            <a:r>
              <a:rPr lang="en-US" altLang="en-US" sz="1200" b="1" dirty="0">
                <a:latin typeface="Times New Roman" panose="02020603050405020304" pitchFamily="18" charset="0"/>
                <a:cs typeface="Times New Roman" panose="02020603050405020304" pitchFamily="18" charset="0"/>
              </a:rPr>
              <a:t>3. ALS (Alternating Least Squares)</a:t>
            </a:r>
            <a:endParaRPr lang="en-US" altLang="en-US" sz="1200" b="1" dirty="0">
              <a:latin typeface="Times New Roman" panose="02020603050405020304" pitchFamily="18" charset="0"/>
              <a:cs typeface="Times New Roman" panose="02020603050405020304" pitchFamily="18" charset="0"/>
            </a:endParaRPr>
          </a:p>
          <a:p>
            <a:pPr marL="0" indent="0" algn="just">
              <a:lnSpc>
                <a:spcPct val="110000"/>
              </a:lnSpc>
              <a:buNone/>
            </a:pPr>
            <a:r>
              <a:rPr lang="en-US" altLang="en-US" sz="1200" dirty="0">
                <a:latin typeface="Times New Roman" panose="02020603050405020304" pitchFamily="18" charset="0"/>
                <a:cs typeface="Times New Roman" panose="02020603050405020304" pitchFamily="18" charset="0"/>
              </a:rPr>
              <a:t>Collaborative filtering algorithm used to recommend products based on user interactions.(matrix factorization model)</a:t>
            </a:r>
            <a:endParaRPr lang="en-US" altLang="en-US" sz="1200" dirty="0">
              <a:latin typeface="Times New Roman" panose="02020603050405020304" pitchFamily="18" charset="0"/>
              <a:cs typeface="Times New Roman" panose="02020603050405020304" pitchFamily="18" charset="0"/>
            </a:endParaRPr>
          </a:p>
          <a:p>
            <a:pPr marL="0" indent="0" algn="just">
              <a:lnSpc>
                <a:spcPct val="110000"/>
              </a:lnSpc>
              <a:buNone/>
            </a:pPr>
            <a:r>
              <a:rPr lang="en-US" altLang="en-US" sz="1200" b="1" dirty="0">
                <a:latin typeface="Times New Roman" panose="02020603050405020304" pitchFamily="18" charset="0"/>
                <a:cs typeface="Times New Roman" panose="02020603050405020304" pitchFamily="18" charset="0"/>
              </a:rPr>
              <a:t>4. Pandas and NumPy</a:t>
            </a:r>
            <a:endParaRPr lang="en-US" altLang="en-US" sz="1200" b="1" dirty="0">
              <a:latin typeface="Times New Roman" panose="02020603050405020304" pitchFamily="18" charset="0"/>
              <a:cs typeface="Times New Roman" panose="02020603050405020304" pitchFamily="18" charset="0"/>
            </a:endParaRPr>
          </a:p>
          <a:p>
            <a:pPr marL="0" indent="0" algn="just">
              <a:lnSpc>
                <a:spcPct val="110000"/>
              </a:lnSpc>
              <a:buNone/>
            </a:pPr>
            <a:r>
              <a:rPr lang="en-US" altLang="en-US" sz="1200" dirty="0">
                <a:latin typeface="Times New Roman" panose="02020603050405020304" pitchFamily="18" charset="0"/>
                <a:cs typeface="Times New Roman" panose="02020603050405020304" pitchFamily="18" charset="0"/>
              </a:rPr>
              <a:t>Data cleaning, manipulation, and numerical computations.</a:t>
            </a:r>
            <a:endParaRPr lang="en-US" altLang="en-US" sz="1200" dirty="0">
              <a:latin typeface="Times New Roman" panose="02020603050405020304" pitchFamily="18" charset="0"/>
              <a:cs typeface="Times New Roman" panose="02020603050405020304" pitchFamily="18" charset="0"/>
            </a:endParaRPr>
          </a:p>
          <a:p>
            <a:pPr marL="0" indent="0" algn="just">
              <a:lnSpc>
                <a:spcPct val="110000"/>
              </a:lnSpc>
              <a:buNone/>
            </a:pPr>
            <a:r>
              <a:rPr lang="en-US" altLang="en-US" sz="1200" b="1" dirty="0">
                <a:latin typeface="Times New Roman" panose="02020603050405020304" pitchFamily="18" charset="0"/>
                <a:cs typeface="Times New Roman" panose="02020603050405020304" pitchFamily="18" charset="0"/>
              </a:rPr>
              <a:t>5. HTML and CSS </a:t>
            </a:r>
            <a:endParaRPr lang="en-US" altLang="en-US" sz="1200" b="1" dirty="0">
              <a:latin typeface="Times New Roman" panose="02020603050405020304" pitchFamily="18" charset="0"/>
              <a:cs typeface="Times New Roman" panose="02020603050405020304" pitchFamily="18" charset="0"/>
            </a:endParaRPr>
          </a:p>
          <a:p>
            <a:pPr marL="0" indent="0" algn="just">
              <a:lnSpc>
                <a:spcPct val="110000"/>
              </a:lnSpc>
              <a:buNone/>
            </a:pPr>
            <a:r>
              <a:rPr lang="en-US" altLang="en-US" sz="1200" dirty="0">
                <a:latin typeface="Times New Roman" panose="02020603050405020304" pitchFamily="18" charset="0"/>
                <a:cs typeface="Times New Roman" panose="02020603050405020304" pitchFamily="18" charset="0"/>
              </a:rPr>
              <a:t>Build and style the web dashboard.</a:t>
            </a:r>
            <a:endParaRPr lang="en-US" altLang="en-US" sz="1200" dirty="0">
              <a:latin typeface="Times New Roman" panose="02020603050405020304" pitchFamily="18" charset="0"/>
              <a:cs typeface="Times New Roman" panose="02020603050405020304" pitchFamily="18" charset="0"/>
            </a:endParaRPr>
          </a:p>
          <a:p>
            <a:pPr marL="0" indent="0" algn="just">
              <a:lnSpc>
                <a:spcPct val="110000"/>
              </a:lnSpc>
              <a:buNone/>
            </a:pPr>
            <a:r>
              <a:rPr lang="en-US" altLang="en-US" sz="1200" b="1" dirty="0">
                <a:latin typeface="Times New Roman" panose="02020603050405020304" pitchFamily="18" charset="0"/>
                <a:cs typeface="Times New Roman" panose="02020603050405020304" pitchFamily="18" charset="0"/>
              </a:rPr>
              <a:t>6. Flask </a:t>
            </a:r>
            <a:endParaRPr lang="en-US" altLang="en-US" sz="1200" b="1" dirty="0">
              <a:latin typeface="Times New Roman" panose="02020603050405020304" pitchFamily="18" charset="0"/>
              <a:cs typeface="Times New Roman" panose="02020603050405020304" pitchFamily="18" charset="0"/>
            </a:endParaRPr>
          </a:p>
          <a:p>
            <a:pPr marL="0" indent="0" algn="just">
              <a:lnSpc>
                <a:spcPct val="110000"/>
              </a:lnSpc>
              <a:buNone/>
            </a:pPr>
            <a:r>
              <a:rPr lang="en-US" altLang="en-US" sz="1200" dirty="0">
                <a:latin typeface="Times New Roman" panose="02020603050405020304" pitchFamily="18" charset="0"/>
                <a:cs typeface="Times New Roman" panose="02020603050405020304" pitchFamily="18" charset="0"/>
              </a:rPr>
              <a:t>Connects the backend recommendation pipeline to the web interface.</a:t>
            </a:r>
            <a:endParaRPr lang="en-US" altLang="en-US" sz="1200" dirty="0">
              <a:latin typeface="Times New Roman" panose="02020603050405020304" pitchFamily="18" charset="0"/>
              <a:cs typeface="Times New Roman" panose="02020603050405020304" pitchFamily="18" charset="0"/>
            </a:endParaRPr>
          </a:p>
          <a:p>
            <a:pPr marL="0" indent="0" algn="just">
              <a:lnSpc>
                <a:spcPct val="110000"/>
              </a:lnSpc>
              <a:buNone/>
            </a:pPr>
            <a:r>
              <a:rPr lang="en-US" altLang="en-US" sz="1200" b="1" dirty="0">
                <a:latin typeface="Times New Roman" panose="02020603050405020304" pitchFamily="18" charset="0"/>
                <a:cs typeface="Times New Roman" panose="02020603050405020304" pitchFamily="18" charset="0"/>
              </a:rPr>
              <a:t>7. Matplotlib</a:t>
            </a:r>
            <a:endParaRPr lang="en-US" altLang="en-US" sz="1200" b="1" dirty="0">
              <a:latin typeface="Times New Roman" panose="02020603050405020304" pitchFamily="18" charset="0"/>
              <a:cs typeface="Times New Roman" panose="02020603050405020304" pitchFamily="18" charset="0"/>
            </a:endParaRPr>
          </a:p>
          <a:p>
            <a:pPr marL="0" indent="0" algn="just">
              <a:lnSpc>
                <a:spcPct val="110000"/>
              </a:lnSpc>
              <a:buNone/>
            </a:pPr>
            <a:r>
              <a:rPr lang="en-US" altLang="en-US" sz="1200" dirty="0">
                <a:latin typeface="Times New Roman" panose="02020603050405020304" pitchFamily="18" charset="0"/>
                <a:cs typeface="Times New Roman" panose="02020603050405020304" pitchFamily="18" charset="0"/>
              </a:rPr>
              <a:t>Creates graphs for event distribution, ratings, and top product categories.</a:t>
            </a:r>
            <a:endParaRPr lang="en-US" altLang="en-US" sz="1200" dirty="0">
              <a:latin typeface="Times New Roman" panose="02020603050405020304" pitchFamily="18" charset="0"/>
              <a:cs typeface="Times New Roman" panose="02020603050405020304" pitchFamily="18" charset="0"/>
            </a:endParaRPr>
          </a:p>
          <a:p>
            <a:pPr marL="0" indent="0" algn="just">
              <a:lnSpc>
                <a:spcPct val="110000"/>
              </a:lnSpc>
              <a:buNone/>
            </a:pPr>
            <a:r>
              <a:rPr lang="en-US" altLang="en-US" sz="1200" b="1" dirty="0">
                <a:latin typeface="Times New Roman" panose="02020603050405020304" pitchFamily="18" charset="0"/>
                <a:cs typeface="Times New Roman" panose="02020603050405020304" pitchFamily="18" charset="0"/>
              </a:rPr>
              <a:t>8. CSV files</a:t>
            </a:r>
            <a:endParaRPr lang="en-US" altLang="en-US" sz="1200" b="1" dirty="0">
              <a:latin typeface="Times New Roman" panose="02020603050405020304" pitchFamily="18" charset="0"/>
              <a:cs typeface="Times New Roman" panose="02020603050405020304" pitchFamily="18" charset="0"/>
            </a:endParaRPr>
          </a:p>
          <a:p>
            <a:pPr marL="0" indent="0" algn="just">
              <a:lnSpc>
                <a:spcPct val="110000"/>
              </a:lnSpc>
              <a:buNone/>
            </a:pPr>
            <a:r>
              <a:rPr lang="en-US" altLang="en-US" sz="1200" dirty="0">
                <a:latin typeface="Times New Roman" panose="02020603050405020304" pitchFamily="18" charset="0"/>
                <a:cs typeface="Times New Roman" panose="02020603050405020304" pitchFamily="18" charset="0"/>
              </a:rPr>
              <a:t>Store user, product, and interaction datasets.</a:t>
            </a:r>
            <a:endParaRPr lang="en-US" altLang="en-US" sz="1200" dirty="0">
              <a:latin typeface="Times New Roman" panose="02020603050405020304" pitchFamily="18" charset="0"/>
              <a:cs typeface="Times New Roman" panose="02020603050405020304" pitchFamily="18" charset="0"/>
            </a:endParaRPr>
          </a:p>
          <a:p>
            <a:pPr marL="0" indent="0" algn="just">
              <a:lnSpc>
                <a:spcPct val="110000"/>
              </a:lnSpc>
              <a:buNone/>
            </a:pPr>
            <a:r>
              <a:rPr lang="en-US" altLang="en-US" sz="1200" b="1" dirty="0">
                <a:latin typeface="Times New Roman" panose="02020603050405020304" pitchFamily="18" charset="0"/>
                <a:cs typeface="Times New Roman" panose="02020603050405020304" pitchFamily="18" charset="0"/>
              </a:rPr>
              <a:t>9. YAML</a:t>
            </a:r>
            <a:endParaRPr lang="en-US" altLang="en-US" sz="1200" b="1" dirty="0">
              <a:latin typeface="Times New Roman" panose="02020603050405020304" pitchFamily="18" charset="0"/>
              <a:cs typeface="Times New Roman" panose="02020603050405020304" pitchFamily="18" charset="0"/>
            </a:endParaRPr>
          </a:p>
          <a:p>
            <a:pPr marL="0" indent="0" algn="just">
              <a:lnSpc>
                <a:spcPct val="110000"/>
              </a:lnSpc>
              <a:buNone/>
            </a:pPr>
            <a:r>
              <a:rPr lang="en-US" altLang="en-US" sz="1200" dirty="0">
                <a:latin typeface="Times New Roman" panose="02020603050405020304" pitchFamily="18" charset="0"/>
                <a:cs typeface="Times New Roman" panose="02020603050405020304" pitchFamily="18" charset="0"/>
              </a:rPr>
              <a:t>Stores project configuration settings.</a:t>
            </a:r>
            <a:endParaRPr lang="en-US" altLang="en-US" sz="12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609600"/>
            <a:ext cx="8458200" cy="715962"/>
          </a:xfrm>
        </p:spPr>
        <p:txBody>
          <a:bodyPr>
            <a:normAutofit/>
          </a:bodyPr>
          <a:lstStyle/>
          <a:p>
            <a:r>
              <a:rPr lang="en-IN" b="1" dirty="0">
                <a:solidFill>
                  <a:srgbClr val="0070C0"/>
                </a:solidFill>
                <a:latin typeface="Times New Roman" panose="02020603050405020304" pitchFamily="18" charset="0"/>
                <a:cs typeface="Times New Roman" panose="02020603050405020304" pitchFamily="18" charset="0"/>
              </a:rPr>
              <a:t>Implementation</a:t>
            </a:r>
            <a:endParaRPr lang="en-IN" b="1" dirty="0">
              <a:solidFill>
                <a:srgbClr val="0070C0"/>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pic>
        <p:nvPicPr>
          <p:cNvPr id="7" name="Content Placeholder 5"/>
          <p:cNvPicPr>
            <a:picLocks noChangeAspect="1"/>
          </p:cNvPicPr>
          <p:nvPr/>
        </p:nvPicPr>
        <p:blipFill>
          <a:blip r:embed="rId2"/>
          <a:stretch>
            <a:fillRect/>
          </a:stretch>
        </p:blipFill>
        <p:spPr>
          <a:xfrm>
            <a:off x="622852" y="1512942"/>
            <a:ext cx="8088728" cy="504821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609600"/>
            <a:ext cx="8458200" cy="715962"/>
          </a:xfrm>
        </p:spPr>
        <p:txBody>
          <a:bodyPr>
            <a:normAutofit/>
          </a:bodyPr>
          <a:lstStyle/>
          <a:p>
            <a:r>
              <a:rPr lang="en-IN" b="1" dirty="0">
                <a:solidFill>
                  <a:srgbClr val="0070C0"/>
                </a:solidFill>
                <a:latin typeface="Times New Roman" panose="02020603050405020304" pitchFamily="18" charset="0"/>
                <a:cs typeface="Times New Roman" panose="02020603050405020304" pitchFamily="18" charset="0"/>
              </a:rPr>
              <a:t>Implementation</a:t>
            </a:r>
            <a:endParaRPr lang="en-IN" b="1" dirty="0">
              <a:solidFill>
                <a:srgbClr val="0070C0"/>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pic>
        <p:nvPicPr>
          <p:cNvPr id="3" name="Content Placeholder 5"/>
          <p:cNvPicPr>
            <a:picLocks noGrp="1" noChangeAspect="1"/>
          </p:cNvPicPr>
          <p:nvPr>
            <p:ph idx="1"/>
          </p:nvPr>
        </p:nvPicPr>
        <p:blipFill>
          <a:blip r:embed="rId2"/>
          <a:stretch>
            <a:fillRect/>
          </a:stretch>
        </p:blipFill>
        <p:spPr>
          <a:xfrm>
            <a:off x="533400" y="1371600"/>
            <a:ext cx="8077200" cy="504627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609600"/>
            <a:ext cx="8458200" cy="715962"/>
          </a:xfrm>
        </p:spPr>
        <p:txBody>
          <a:bodyPr>
            <a:normAutofit/>
          </a:bodyPr>
          <a:lstStyle/>
          <a:p>
            <a:r>
              <a:rPr lang="en-IN" b="1" dirty="0">
                <a:solidFill>
                  <a:srgbClr val="0070C0"/>
                </a:solidFill>
                <a:latin typeface="Times New Roman" panose="02020603050405020304" pitchFamily="18" charset="0"/>
                <a:cs typeface="Times New Roman" panose="02020603050405020304" pitchFamily="18" charset="0"/>
              </a:rPr>
              <a:t>Functionality</a:t>
            </a:r>
            <a:endParaRPr lang="en-IN" b="1" dirty="0">
              <a:solidFill>
                <a:srgbClr val="0070C0"/>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sp>
        <p:nvSpPr>
          <p:cNvPr id="4" name="Content Placeholder 3"/>
          <p:cNvSpPr>
            <a:spLocks noGrp="1"/>
          </p:cNvSpPr>
          <p:nvPr>
            <p:ph idx="1"/>
          </p:nvPr>
        </p:nvSpPr>
        <p:spPr/>
        <p:txBody>
          <a:bodyPr>
            <a:normAutofit fontScale="77500" lnSpcReduction="20000"/>
          </a:bodyPr>
          <a:lstStyle/>
          <a:p>
            <a:r>
              <a:rPr lang="en-IN" b="1" dirty="0">
                <a:latin typeface="Times New Roman" panose="02020603050405020304" pitchFamily="18" charset="0"/>
                <a:cs typeface="Times New Roman" panose="02020603050405020304" pitchFamily="18" charset="0"/>
              </a:rPr>
              <a:t>User Activity Collection</a:t>
            </a:r>
            <a:r>
              <a:rPr lang="en-IN" dirty="0">
                <a:latin typeface="Times New Roman" panose="02020603050405020304" pitchFamily="18" charset="0"/>
                <a:cs typeface="Times New Roman" panose="02020603050405020304" pitchFamily="18" charset="0"/>
              </a:rPr>
              <a:t> – The system collects user searches, clicks, product views, ratings, cart activity, and previous purchases. </a:t>
            </a:r>
            <a:endParaRPr lang="en-IN" dirty="0">
              <a:latin typeface="Times New Roman" panose="02020603050405020304" pitchFamily="18" charset="0"/>
              <a:cs typeface="Times New Roman" panose="02020603050405020304" pitchFamily="18" charset="0"/>
            </a:endParaRPr>
          </a:p>
          <a:p>
            <a:pPr lvl="0"/>
            <a:r>
              <a:rPr lang="en-IN" b="1" dirty="0">
                <a:latin typeface="Times New Roman" panose="02020603050405020304" pitchFamily="18" charset="0"/>
                <a:cs typeface="Times New Roman" panose="02020603050405020304" pitchFamily="18" charset="0"/>
              </a:rPr>
              <a:t>Data Processing</a:t>
            </a:r>
            <a:r>
              <a:rPr lang="en-IN" dirty="0">
                <a:latin typeface="Times New Roman" panose="02020603050405020304" pitchFamily="18" charset="0"/>
                <a:cs typeface="Times New Roman" panose="02020603050405020304" pitchFamily="18" charset="0"/>
              </a:rPr>
              <a:t> – The collected user and product data is cleaned and prepared through a recommendation pipeline. </a:t>
            </a:r>
            <a:endParaRPr lang="en-IN" dirty="0">
              <a:latin typeface="Times New Roman" panose="02020603050405020304" pitchFamily="18" charset="0"/>
              <a:cs typeface="Times New Roman" panose="02020603050405020304" pitchFamily="18" charset="0"/>
            </a:endParaRPr>
          </a:p>
          <a:p>
            <a:pPr lvl="0"/>
            <a:r>
              <a:rPr lang="en-IN" b="1" dirty="0">
                <a:latin typeface="Times New Roman" panose="02020603050405020304" pitchFamily="18" charset="0"/>
                <a:cs typeface="Times New Roman" panose="02020603050405020304" pitchFamily="18" charset="0"/>
              </a:rPr>
              <a:t>User Preference Analysis</a:t>
            </a:r>
            <a:r>
              <a:rPr lang="en-IN" dirty="0">
                <a:latin typeface="Times New Roman" panose="02020603050405020304" pitchFamily="18" charset="0"/>
                <a:cs typeface="Times New Roman" panose="02020603050405020304" pitchFamily="18" charset="0"/>
              </a:rPr>
              <a:t> – The system </a:t>
            </a:r>
            <a:r>
              <a:rPr lang="en-IN" dirty="0" err="1">
                <a:latin typeface="Times New Roman" panose="02020603050405020304" pitchFamily="18" charset="0"/>
                <a:cs typeface="Times New Roman" panose="02020603050405020304" pitchFamily="18" charset="0"/>
              </a:rPr>
              <a:t>analyzes</a:t>
            </a:r>
            <a:r>
              <a:rPr lang="en-IN" dirty="0">
                <a:latin typeface="Times New Roman" panose="02020603050405020304" pitchFamily="18" charset="0"/>
                <a:cs typeface="Times New Roman" panose="02020603050405020304" pitchFamily="18" charset="0"/>
              </a:rPr>
              <a:t> customer </a:t>
            </a:r>
            <a:r>
              <a:rPr lang="en-IN" dirty="0" err="1">
                <a:latin typeface="Times New Roman" panose="02020603050405020304" pitchFamily="18" charset="0"/>
                <a:cs typeface="Times New Roman" panose="02020603050405020304" pitchFamily="18" charset="0"/>
              </a:rPr>
              <a:t>behavior</a:t>
            </a:r>
            <a:r>
              <a:rPr lang="en-IN" dirty="0">
                <a:latin typeface="Times New Roman" panose="02020603050405020304" pitchFamily="18" charset="0"/>
                <a:cs typeface="Times New Roman" panose="02020603050405020304" pitchFamily="18" charset="0"/>
              </a:rPr>
              <a:t> to understand their interests and preferences. </a:t>
            </a:r>
            <a:endParaRPr lang="en-IN" dirty="0">
              <a:latin typeface="Times New Roman" panose="02020603050405020304" pitchFamily="18" charset="0"/>
              <a:cs typeface="Times New Roman" panose="02020603050405020304" pitchFamily="18" charset="0"/>
            </a:endParaRPr>
          </a:p>
          <a:p>
            <a:pPr lvl="0"/>
            <a:r>
              <a:rPr lang="en-IN" b="1" dirty="0">
                <a:latin typeface="Times New Roman" panose="02020603050405020304" pitchFamily="18" charset="0"/>
                <a:cs typeface="Times New Roman" panose="02020603050405020304" pitchFamily="18" charset="0"/>
              </a:rPr>
              <a:t>Product Recommendation</a:t>
            </a:r>
            <a:r>
              <a:rPr lang="en-IN" dirty="0">
                <a:latin typeface="Times New Roman" panose="02020603050405020304" pitchFamily="18" charset="0"/>
                <a:cs typeface="Times New Roman" panose="02020603050405020304" pitchFamily="18" charset="0"/>
              </a:rPr>
              <a:t> – Based on the </a:t>
            </a:r>
            <a:r>
              <a:rPr lang="en-IN" dirty="0" err="1">
                <a:latin typeface="Times New Roman" panose="02020603050405020304" pitchFamily="18" charset="0"/>
                <a:cs typeface="Times New Roman" panose="02020603050405020304" pitchFamily="18" charset="0"/>
              </a:rPr>
              <a:t>analyzed</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behavior</a:t>
            </a:r>
            <a:r>
              <a:rPr lang="en-IN" dirty="0">
                <a:latin typeface="Times New Roman" panose="02020603050405020304" pitchFamily="18" charset="0"/>
                <a:cs typeface="Times New Roman" panose="02020603050405020304" pitchFamily="18" charset="0"/>
              </a:rPr>
              <a:t>, relevant products are identified and suggested to the user. </a:t>
            </a:r>
            <a:endParaRPr lang="en-IN" dirty="0">
              <a:latin typeface="Times New Roman" panose="02020603050405020304" pitchFamily="18" charset="0"/>
              <a:cs typeface="Times New Roman" panose="02020603050405020304" pitchFamily="18" charset="0"/>
            </a:endParaRPr>
          </a:p>
          <a:p>
            <a:pPr lvl="0"/>
            <a:r>
              <a:rPr lang="en-IN" b="1" dirty="0">
                <a:latin typeface="Times New Roman" panose="02020603050405020304" pitchFamily="18" charset="0"/>
                <a:cs typeface="Times New Roman" panose="02020603050405020304" pitchFamily="18" charset="0"/>
              </a:rPr>
              <a:t>Product Ranking</a:t>
            </a:r>
            <a:r>
              <a:rPr lang="en-IN" dirty="0">
                <a:latin typeface="Times New Roman" panose="02020603050405020304" pitchFamily="18" charset="0"/>
                <a:cs typeface="Times New Roman" panose="02020603050405020304" pitchFamily="18" charset="0"/>
              </a:rPr>
              <a:t> – Recommended products are ranked according to their relevance to the user's </a:t>
            </a:r>
            <a:r>
              <a:rPr lang="en-IN" dirty="0" err="1">
                <a:latin typeface="Times New Roman" panose="02020603050405020304" pitchFamily="18" charset="0"/>
                <a:cs typeface="Times New Roman" panose="02020603050405020304" pitchFamily="18" charset="0"/>
              </a:rPr>
              <a:t>behavior</a:t>
            </a:r>
            <a:r>
              <a:rPr lang="en-IN"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p>
            <a:pPr lvl="0"/>
            <a:r>
              <a:rPr lang="en-IN" b="1" dirty="0">
                <a:latin typeface="Times New Roman" panose="02020603050405020304" pitchFamily="18" charset="0"/>
                <a:cs typeface="Times New Roman" panose="02020603050405020304" pitchFamily="18" charset="0"/>
              </a:rPr>
              <a:t>Personalized Recommendations</a:t>
            </a:r>
            <a:r>
              <a:rPr lang="en-IN" dirty="0">
                <a:latin typeface="Times New Roman" panose="02020603050405020304" pitchFamily="18" charset="0"/>
                <a:cs typeface="Times New Roman" panose="02020603050405020304" pitchFamily="18" charset="0"/>
              </a:rPr>
              <a:t> – Different users receive different product suggestions based on their individual activity. </a:t>
            </a:r>
            <a:endParaRPr lang="en-IN" dirty="0">
              <a:latin typeface="Times New Roman" panose="02020603050405020304" pitchFamily="18" charset="0"/>
              <a:cs typeface="Times New Roman" panose="02020603050405020304" pitchFamily="18" charset="0"/>
            </a:endParaRPr>
          </a:p>
          <a:p>
            <a:pPr lvl="0"/>
            <a:r>
              <a:rPr lang="en-IN" b="1" dirty="0">
                <a:latin typeface="Times New Roman" panose="02020603050405020304" pitchFamily="18" charset="0"/>
                <a:cs typeface="Times New Roman" panose="02020603050405020304" pitchFamily="18" charset="0"/>
              </a:rPr>
              <a:t>Improved Product Discovery</a:t>
            </a:r>
            <a:r>
              <a:rPr lang="en-IN" dirty="0">
                <a:latin typeface="Times New Roman" panose="02020603050405020304" pitchFamily="18" charset="0"/>
                <a:cs typeface="Times New Roman" panose="02020603050405020304" pitchFamily="18" charset="0"/>
              </a:rPr>
              <a:t> – Users can find relevant products more easily instead of manually searching through thousands or millions of products. </a:t>
            </a:r>
            <a:endParaRPr lang="en-IN" dirty="0">
              <a:latin typeface="Times New Roman" panose="02020603050405020304" pitchFamily="18" charset="0"/>
              <a:cs typeface="Times New Roman" panose="02020603050405020304" pitchFamily="18" charset="0"/>
            </a:endParaRPr>
          </a:p>
          <a:p>
            <a:pPr lvl="0"/>
            <a:r>
              <a:rPr lang="en-IN" b="1" dirty="0">
                <a:latin typeface="Times New Roman" panose="02020603050405020304" pitchFamily="18" charset="0"/>
                <a:cs typeface="Times New Roman" panose="02020603050405020304" pitchFamily="18" charset="0"/>
              </a:rPr>
              <a:t>Better Shopping Experience</a:t>
            </a:r>
            <a:r>
              <a:rPr lang="en-IN" dirty="0">
                <a:latin typeface="Times New Roman" panose="02020603050405020304" pitchFamily="18" charset="0"/>
                <a:cs typeface="Times New Roman" panose="02020603050405020304" pitchFamily="18" charset="0"/>
              </a:rPr>
              <a:t> – The overall goal is to make online shopping more personalized, convenient, and efficient. </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7538</Words>
  <Application>WPS Presentation</Application>
  <PresentationFormat>On-screen Show (4:3)</PresentationFormat>
  <Paragraphs>194</Paragraphs>
  <Slides>12</Slides>
  <Notes>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12</vt:i4>
      </vt:variant>
    </vt:vector>
  </HeadingPairs>
  <TitlesOfParts>
    <vt:vector size="23" baseType="lpstr">
      <vt:lpstr>Arial</vt:lpstr>
      <vt:lpstr>SimSun</vt:lpstr>
      <vt:lpstr>Wingdings</vt:lpstr>
      <vt:lpstr>Times New Roman</vt:lpstr>
      <vt:lpstr>Times New Roman</vt:lpstr>
      <vt:lpstr>Aptos</vt:lpstr>
      <vt:lpstr>Segoe UI</vt:lpstr>
      <vt:lpstr>Calibri</vt:lpstr>
      <vt:lpstr>Microsoft YaHei</vt:lpstr>
      <vt:lpstr>Arial Unicode MS</vt:lpstr>
      <vt:lpstr>Office Theme</vt:lpstr>
      <vt:lpstr>    E - Commerce Recommendation pipeline REVIEW – 3     </vt:lpstr>
      <vt:lpstr>Table of contents</vt:lpstr>
      <vt:lpstr>Abstract</vt:lpstr>
      <vt:lpstr>	Introduction</vt:lpstr>
      <vt:lpstr>Objectives </vt:lpstr>
      <vt:lpstr>Literature Survey</vt:lpstr>
      <vt:lpstr>System Architecture</vt:lpstr>
      <vt:lpstr>Methodology</vt:lpstr>
      <vt:lpstr>Technologies and Tools</vt:lpstr>
      <vt:lpstr>Implementation</vt:lpstr>
      <vt:lpstr>Implementation</vt:lpstr>
      <vt:lpstr>Functionality</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subbu</dc:creator>
  <cp:lastModifiedBy>sanuh</cp:lastModifiedBy>
  <cp:revision>218</cp:revision>
  <dcterms:created xsi:type="dcterms:W3CDTF">2006-08-16T00:00:00Z</dcterms:created>
  <dcterms:modified xsi:type="dcterms:W3CDTF">2026-10-26T16:10:46Z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1033-12.1.0.29162</vt:lpwstr>
  </property>
  <property fmtid="{D5CDD505-2E9C-101B-9397-08002B2CF9AE}" pid="3" name="ICV">
    <vt:lpwstr>0D247B76700F4745917501F3CAAC3982_12</vt:lpwstr>
  </property>
</Properties>
</file>