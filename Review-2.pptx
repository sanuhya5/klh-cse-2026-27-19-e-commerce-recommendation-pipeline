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6" r:id="rId3"/>
    <p:sldId id="288" r:id="rId5"/>
    <p:sldId id="287" r:id="rId6"/>
    <p:sldId id="289" r:id="rId7"/>
    <p:sldId id="290" r:id="rId8"/>
    <p:sldId id="291" r:id="rId9"/>
    <p:sldId id="292" r:id="rId1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41" autoAdjust="0"/>
    <p:restoredTop sz="95033" autoAdjust="0"/>
  </p:normalViewPr>
  <p:slideViewPr>
    <p:cSldViewPr showGuides="1">
      <p:cViewPr varScale="1">
        <p:scale>
          <a:sx n="117" d="100"/>
          <a:sy n="117" d="100"/>
        </p:scale>
        <p:origin x="1008"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82A2A7-8E58-4AA3-854C-AFDBFBEC253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2"/>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3000" b="1" cap="all"/>
            </a:lvl1pPr>
          </a:lstStyle>
          <a:p>
            <a:r>
              <a:rPr lang="en-US"/>
              <a:t>Click to edit Master title style</a:t>
            </a:r>
            <a:endParaRPr lang="en-US"/>
          </a:p>
        </p:txBody>
      </p:sp>
      <p:sp>
        <p:nvSpPr>
          <p:cNvPr id="3" name="Text Placeholder 2"/>
          <p:cNvSpPr>
            <a:spLocks noGrp="1"/>
          </p:cNvSpPr>
          <p:nvPr>
            <p:ph type="body" idx="1"/>
          </p:nvPr>
        </p:nvSpPr>
        <p:spPr>
          <a:xfrm>
            <a:off x="722313" y="2906720"/>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3"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457203"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45029"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a:t>Click to edit Master title style</a:t>
            </a:r>
            <a:endParaRPr lang="en-US"/>
          </a:p>
        </p:txBody>
      </p:sp>
      <p:sp>
        <p:nvSpPr>
          <p:cNvPr id="3" name="Content Placeholder 2"/>
          <p:cNvSpPr>
            <a:spLocks noGrp="1"/>
          </p:cNvSpPr>
          <p:nvPr>
            <p:ph idx="1"/>
          </p:nvPr>
        </p:nvSpPr>
        <p:spPr>
          <a:xfrm>
            <a:off x="3575051" y="273057"/>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15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5"/>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7"/>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7"/>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7"/>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hyperlink" Target="http://www.klh.edu.in/"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hyperlink" Target="https://doi.org/10.1145/2959100.2959190" TargetMode="External"/><Relationship Id="rId8" Type="http://schemas.openxmlformats.org/officeDocument/2006/relationships/hyperlink" Target="https://oamonitor.ireland.openaire.eu/rpo/rcsi/search/publication?pid=10.1109%2Fmc.2009.263&amp;utm_source=chatgpt.com" TargetMode="External"/><Relationship Id="rId7" Type="http://schemas.openxmlformats.org/officeDocument/2006/relationships/hyperlink" Target="https://doi.org/10.1109/MC.2009.263" TargetMode="External"/><Relationship Id="rId6" Type="http://schemas.openxmlformats.org/officeDocument/2006/relationships/hyperlink" Target="https://cir.nii.ac.jp/crid/1363107368767620736?utm_source=chatgpt.com" TargetMode="External"/><Relationship Id="rId5" Type="http://schemas.openxmlformats.org/officeDocument/2006/relationships/hyperlink" Target="https://doi.org/10.1109/ICDM.2008.22" TargetMode="External"/><Relationship Id="rId4" Type="http://schemas.openxmlformats.org/officeDocument/2006/relationships/hyperlink" Target="https://ieeexplore.ieee.org/document/1167344?utm_source=chatgpt.com" TargetMode="External"/><Relationship Id="rId3" Type="http://schemas.openxmlformats.org/officeDocument/2006/relationships/hyperlink" Target="https://doi.org/10.1109/MIC.2003.1167344" TargetMode="External"/><Relationship Id="rId2" Type="http://schemas.openxmlformats.org/officeDocument/2006/relationships/hyperlink" Target="https://es.wikipedia.org/wiki/Sistema_de_recomendaci%C3%B3n?utm_source=chatgpt.com" TargetMode="External"/><Relationship Id="rId14" Type="http://schemas.openxmlformats.org/officeDocument/2006/relationships/slideLayout" Target="../slideLayouts/slideLayout2.xml"/><Relationship Id="rId13" Type="http://schemas.openxmlformats.org/officeDocument/2006/relationships/image" Target="../media/image1.png"/><Relationship Id="rId12" Type="http://schemas.openxmlformats.org/officeDocument/2006/relationships/hyperlink" Target="https://dl.acm.org/?utm_source=chatgpt.com" TargetMode="External"/><Relationship Id="rId11" Type="http://schemas.openxmlformats.org/officeDocument/2006/relationships/hyperlink" Target="https://doi.org/10.1145/3038912.3052569" TargetMode="External"/><Relationship Id="rId10" Type="http://schemas.openxmlformats.org/officeDocument/2006/relationships/hyperlink" Target="https://doi.org/10.1145/2959100.2959190?utm_source=chatgpt.com" TargetMode="External"/><Relationship Id="rId1" Type="http://schemas.openxmlformats.org/officeDocument/2006/relationships/hyperlink" Target="https://doi.org/10.1109/TKDE.2005.99"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3050" y="695499"/>
            <a:ext cx="6153150" cy="176589"/>
          </a:xfrm>
        </p:spPr>
        <p:txBody>
          <a:bodyPr>
            <a:normAutofit fontScale="90000"/>
          </a:bodyPr>
          <a:lstStyle/>
          <a:p>
            <a:pPr>
              <a:defRPr/>
            </a:pP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700" b="1" dirty="0">
                <a:solidFill>
                  <a:schemeClr val="accent1"/>
                </a:solidFill>
                <a:latin typeface="Times New Roman" panose="02020603050405020304" pitchFamily="18" charset="0"/>
                <a:cs typeface="Times New Roman" panose="02020603050405020304" pitchFamily="18" charset="0"/>
              </a:rPr>
              <a:t>E-Commerce Recommendation pipeline</a:t>
            </a:r>
            <a:br>
              <a:rPr lang="en-US" sz="2200" b="1" dirty="0">
                <a:latin typeface="Times New Roman" panose="02020603050405020304" pitchFamily="18" charset="0"/>
                <a:cs typeface="Times New Roman" panose="02020603050405020304" pitchFamily="18" charset="0"/>
              </a:rPr>
            </a:br>
            <a:br>
              <a:rPr lang="en-US" sz="135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br>
              <a:rPr lang="en-US" b="1" dirty="0"/>
            </a:br>
            <a:endParaRPr lang="en-US" sz="3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28750" y="872088"/>
            <a:ext cx="6343650" cy="2799768"/>
          </a:xfrm>
        </p:spPr>
        <p:txBody>
          <a:bodyPr>
            <a:normAutofit fontScale="25000" lnSpcReduction="20000"/>
          </a:bodyPr>
          <a:lstStyle/>
          <a:p>
            <a:pPr>
              <a:lnSpc>
                <a:spcPct val="80000"/>
              </a:lnSpc>
              <a:defRPr/>
            </a:pPr>
            <a:endParaRPr lang="en-US" sz="1500" dirty="0">
              <a:solidFill>
                <a:srgbClr val="0D0D0D"/>
              </a:solidFill>
              <a:latin typeface="Times New Roman" panose="02020603050405020304" pitchFamily="18" charset="0"/>
              <a:cs typeface="Times New Roman" panose="02020603050405020304" pitchFamily="18" charset="0"/>
            </a:endParaRPr>
          </a:p>
          <a:p>
            <a:pPr>
              <a:lnSpc>
                <a:spcPct val="80000"/>
              </a:lnSpc>
              <a:defRPr/>
            </a:pPr>
            <a:r>
              <a:rPr lang="en-US" sz="8000" b="1" dirty="0">
                <a:solidFill>
                  <a:schemeClr val="tx1"/>
                </a:solidFill>
                <a:latin typeface="Times New Roman" panose="02020603050405020304" pitchFamily="18" charset="0"/>
                <a:cs typeface="Times New Roman" panose="02020603050405020304" pitchFamily="18" charset="0"/>
              </a:rPr>
              <a:t>REVIEW </a:t>
            </a:r>
            <a:r>
              <a:rPr lang="en-US" sz="8000" b="1">
                <a:solidFill>
                  <a:schemeClr val="tx1"/>
                </a:solidFill>
                <a:latin typeface="Times New Roman" panose="02020603050405020304" pitchFamily="18" charset="0"/>
                <a:cs typeface="Times New Roman" panose="02020603050405020304" pitchFamily="18" charset="0"/>
              </a:rPr>
              <a:t>– 2</a:t>
            </a:r>
            <a:endParaRPr lang="en-US" sz="8000" b="1">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80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Batch 19 - Section 4</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6400" b="1" dirty="0">
                <a:solidFill>
                  <a:srgbClr val="0070C0"/>
                </a:solidFill>
                <a:latin typeface="Times New Roman" panose="02020603050405020304" pitchFamily="18" charset="0"/>
                <a:cs typeface="Times New Roman" panose="02020603050405020304" pitchFamily="18" charset="0"/>
              </a:rPr>
              <a:t> </a:t>
            </a:r>
            <a:r>
              <a:rPr lang="en-US" sz="7200" b="1" dirty="0">
                <a:solidFill>
                  <a:srgbClr val="0070C0"/>
                </a:solidFill>
                <a:latin typeface="Times New Roman" panose="02020603050405020304" pitchFamily="18" charset="0"/>
                <a:cs typeface="Times New Roman" panose="02020603050405020304" pitchFamily="18" charset="0"/>
              </a:rPr>
              <a:t>Team members</a:t>
            </a:r>
            <a:endParaRPr lang="en-US" sz="64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900" b="1" dirty="0">
              <a:solidFill>
                <a:srgbClr val="00B0F0"/>
              </a:solidFill>
              <a:latin typeface="Times New Roman" panose="02020603050405020304" pitchFamily="18" charset="0"/>
              <a:cs typeface="Times New Roman" panose="02020603050405020304" pitchFamily="18" charset="0"/>
            </a:endParaRPr>
          </a:p>
          <a:p>
            <a:pPr algn="l">
              <a:lnSpc>
                <a:spcPct val="80000"/>
              </a:lnSpc>
              <a:defRPr/>
            </a:pPr>
            <a:r>
              <a:rPr lang="en-US" sz="4900" b="1" dirty="0">
                <a:solidFill>
                  <a:schemeClr val="tx1"/>
                </a:solidFill>
                <a:latin typeface="Times New Roman" panose="02020603050405020304" pitchFamily="18" charset="0"/>
                <a:cs typeface="Times New Roman" panose="02020603050405020304" pitchFamily="18" charset="0"/>
              </a:rPr>
              <a:t>                                                               </a:t>
            </a:r>
            <a:r>
              <a:rPr lang="en-US" sz="4800" b="1" dirty="0">
                <a:solidFill>
                  <a:schemeClr val="tx1"/>
                </a:solidFill>
                <a:latin typeface="Times New Roman" panose="02020603050405020304" pitchFamily="18" charset="0"/>
                <a:cs typeface="Times New Roman" panose="02020603050405020304" pitchFamily="18" charset="0"/>
              </a:rPr>
              <a:t>Roll No             Name</a:t>
            </a:r>
            <a:endParaRPr lang="en-US" sz="4800" b="1"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2420030427     Y. Nimisha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2420030498     K. Sanuhya</a:t>
            </a:r>
            <a:endParaRPr lang="en-US" sz="4800" dirty="0">
              <a:solidFill>
                <a:schemeClr val="tx1"/>
              </a:solidFill>
              <a:latin typeface="Times New Roman" panose="02020603050405020304" pitchFamily="18" charset="0"/>
              <a:cs typeface="Times New Roman" panose="02020603050405020304" pitchFamily="18" charset="0"/>
            </a:endParaRPr>
          </a:p>
          <a:p>
            <a:pPr algn="l">
              <a:lnSpc>
                <a:spcPct val="80000"/>
              </a:lnSpc>
              <a:defRPr/>
            </a:pPr>
            <a:r>
              <a:rPr lang="en-US" sz="4800" dirty="0">
                <a:solidFill>
                  <a:schemeClr val="tx1"/>
                </a:solidFill>
                <a:latin typeface="Times New Roman" panose="02020603050405020304" pitchFamily="18" charset="0"/>
                <a:cs typeface="Times New Roman" panose="02020603050405020304" pitchFamily="18" charset="0"/>
              </a:rPr>
              <a:t>                                                             2420030516     R. Sarvajith </a:t>
            </a:r>
            <a:r>
              <a:rPr lang="en-US" sz="4800" dirty="0" err="1">
                <a:solidFill>
                  <a:schemeClr val="tx1"/>
                </a:solidFill>
                <a:latin typeface="Times New Roman" panose="02020603050405020304" pitchFamily="18" charset="0"/>
                <a:cs typeface="Times New Roman" panose="02020603050405020304" pitchFamily="18" charset="0"/>
              </a:rPr>
              <a:t>varma</a:t>
            </a:r>
            <a:endParaRPr lang="en-US" sz="4800"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rgbClr val="FF0000"/>
              </a:solidFill>
              <a:latin typeface="Times New Roman" panose="02020603050405020304" pitchFamily="18" charset="0"/>
              <a:cs typeface="Times New Roman" panose="02020603050405020304" pitchFamily="18" charset="0"/>
            </a:endParaRPr>
          </a:p>
          <a:p>
            <a:pPr>
              <a:lnSpc>
                <a:spcPct val="80000"/>
              </a:lnSpc>
              <a:defRPr/>
            </a:pPr>
            <a:r>
              <a:rPr lang="en-GB" sz="4200" b="1" i="1" dirty="0">
                <a:solidFill>
                  <a:srgbClr val="FF0000"/>
                </a:solidFill>
                <a:latin typeface="Times New Roman" panose="02020603050405020304" pitchFamily="18" charset="0"/>
                <a:ea typeface="Times New Roman" panose="02020603050405020304" pitchFamily="18" charset="0"/>
              </a:rPr>
              <a:t>Under the guidance of </a:t>
            </a:r>
            <a:endParaRPr lang="en-GB" sz="4200" b="1" i="1" dirty="0">
              <a:solidFill>
                <a:srgbClr val="FF0000"/>
              </a:solidFill>
              <a:latin typeface="Times New Roman" panose="02020603050405020304" pitchFamily="18" charset="0"/>
              <a:ea typeface="Times New Roman" panose="02020603050405020304" pitchFamily="18" charset="0"/>
            </a:endParaRPr>
          </a:p>
          <a:p>
            <a:pPr>
              <a:lnSpc>
                <a:spcPct val="80000"/>
              </a:lnSpc>
              <a:defRPr/>
            </a:pPr>
            <a:endParaRPr lang="en-US" sz="4200" dirty="0">
              <a:solidFill>
                <a:srgbClr val="0D0D0D"/>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chemeClr val="tx1"/>
                </a:solidFill>
                <a:latin typeface="Times New Roman" panose="02020603050405020304" pitchFamily="18" charset="0"/>
                <a:cs typeface="Times New Roman" panose="02020603050405020304" pitchFamily="18" charset="0"/>
              </a:rPr>
              <a:t>Dr. Nalla Shirisha</a:t>
            </a:r>
            <a:endParaRPr lang="en-US" sz="56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chemeClr val="tx1"/>
                </a:solidFill>
                <a:latin typeface="Times New Roman" panose="02020603050405020304" pitchFamily="18" charset="0"/>
                <a:cs typeface="Times New Roman" panose="02020603050405020304" pitchFamily="18" charset="0"/>
              </a:rPr>
              <a:t>Associate Professor </a:t>
            </a: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endParaRPr lang="en-US" sz="4200" b="1" dirty="0">
              <a:solidFill>
                <a:schemeClr val="tx1"/>
              </a:solidFill>
              <a:latin typeface="Times New Roman" panose="02020603050405020304" pitchFamily="18" charset="0"/>
              <a:cs typeface="Times New Roman" panose="02020603050405020304" pitchFamily="18" charset="0"/>
            </a:endParaRPr>
          </a:p>
          <a:p>
            <a:pPr>
              <a:lnSpc>
                <a:spcPct val="80000"/>
              </a:lnSpc>
              <a:defRPr/>
            </a:pPr>
            <a:r>
              <a:rPr lang="en-US" sz="5600" b="1" dirty="0">
                <a:solidFill>
                  <a:srgbClr val="0070C0"/>
                </a:solidFill>
                <a:latin typeface="Times New Roman" panose="02020603050405020304" pitchFamily="18" charset="0"/>
                <a:cs typeface="Times New Roman" panose="02020603050405020304" pitchFamily="18" charset="0"/>
              </a:rPr>
              <a:t>Department of Computer Science and Engineering</a:t>
            </a:r>
            <a:endParaRPr lang="en-US" sz="5600" b="1" dirty="0">
              <a:solidFill>
                <a:srgbClr val="0070C0"/>
              </a:solidFill>
              <a:latin typeface="Times New Roman" panose="02020603050405020304" pitchFamily="18" charset="0"/>
              <a:cs typeface="Times New Roman" panose="02020603050405020304" pitchFamily="18" charset="0"/>
            </a:endParaRPr>
          </a:p>
          <a:p>
            <a:pPr>
              <a:lnSpc>
                <a:spcPct val="80000"/>
              </a:lnSpc>
              <a:defRPr/>
            </a:pPr>
            <a:r>
              <a:rPr lang="en-US" sz="4200" b="1" dirty="0">
                <a:solidFill>
                  <a:srgbClr val="0D0D0D"/>
                </a:solidFill>
                <a:latin typeface="Times New Roman" panose="02020603050405020304" pitchFamily="18" charset="0"/>
                <a:cs typeface="Times New Roman" panose="02020603050405020304" pitchFamily="18" charset="0"/>
              </a:rPr>
              <a:t>                                                </a:t>
            </a:r>
            <a:r>
              <a:rPr lang="en-US" sz="4200" dirty="0">
                <a:solidFill>
                  <a:srgbClr val="0D0D0D"/>
                </a:solidFill>
                <a:latin typeface="Times New Roman" panose="02020603050405020304" pitchFamily="18" charset="0"/>
                <a:cs typeface="Times New Roman" panose="02020603050405020304" pitchFamily="18" charset="0"/>
              </a:rPr>
              <a:t>                              </a:t>
            </a:r>
            <a:r>
              <a:rPr lang="en-US" sz="1800" dirty="0">
                <a:solidFill>
                  <a:srgbClr val="0D0D0D"/>
                </a:solidFill>
                <a:latin typeface="Times New Roman" panose="02020603050405020304" pitchFamily="18" charset="0"/>
                <a:cs typeface="Times New Roman" panose="02020603050405020304" pitchFamily="18" charset="0"/>
              </a:rPr>
              <a:t>                                            </a:t>
            </a:r>
            <a:endParaRPr lang="en-US" sz="1800" dirty="0">
              <a:solidFill>
                <a:srgbClr val="0D0D0D"/>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447800" y="5115098"/>
            <a:ext cx="6858000" cy="1047403"/>
          </a:xfrm>
          <a:prstGeom prst="rect">
            <a:avLst/>
          </a:prstGeom>
          <a:noFill/>
        </p:spPr>
        <p:txBody>
          <a:bodyPr wrap="square">
            <a:spAutoFit/>
          </a:bodyPr>
          <a:lstStyle/>
          <a:p>
            <a:pPr algn="ctr">
              <a:lnSpc>
                <a:spcPct val="107000"/>
              </a:lnSpc>
              <a:spcBef>
                <a:spcPts val="1165"/>
              </a:spcBef>
              <a:spcAft>
                <a:spcPts val="600"/>
              </a:spcAft>
            </a:pP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Koneru </a:t>
            </a:r>
            <a:r>
              <a:rPr lang="en-GB" sz="2100" b="1" kern="100" dirty="0" err="1">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100" b="1" kern="100" dirty="0">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sz="1350" b="1" kern="100" dirty="0" err="1">
                <a:latin typeface="Times New Roman" panose="02020603050405020304" pitchFamily="18" charset="0"/>
                <a:ea typeface="Times New Roman" panose="02020603050405020304" pitchFamily="18" charset="0"/>
                <a:cs typeface="Times New Roman" panose="02020603050405020304" pitchFamily="18" charset="0"/>
              </a:rPr>
              <a:t>estd</a:t>
            </a:r>
            <a: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sz="135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Road, </a:t>
            </a:r>
            <a:r>
              <a:rPr lang="en-GB" sz="1200" b="1" kern="100" dirty="0" err="1">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br>
            <a:r>
              <a:rPr lang="en-GB" sz="1200" b="1" kern="100" dirty="0">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200" b="1" u="sng" kern="100" dirty="0">
                <a:solidFill>
                  <a:srgbClr val="467886"/>
                </a:solidFill>
                <a:latin typeface="Times New Roman" panose="02020603050405020304" pitchFamily="18" charset="0"/>
                <a:ea typeface="Times New Roman" panose="02020603050405020304" pitchFamily="18" charset="0"/>
                <a:cs typeface="Times New Roman" panose="02020603050405020304" pitchFamily="18" charset="0"/>
                <a:hlinkClick r:id="rId1"/>
              </a:rPr>
              <a:t>www.klh.edu.in</a:t>
            </a:r>
            <a:endParaRPr lang="en-US" sz="1200" kern="100" dirty="0">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4343400"/>
            <a:ext cx="1874990" cy="9397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5476"/>
            <a:ext cx="8229600" cy="1143000"/>
          </a:xfrm>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Table of contents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943893"/>
            <a:ext cx="8229600" cy="4525963"/>
          </a:xfrm>
        </p:spPr>
        <p:txBody>
          <a:bodyPr/>
          <a:lstStyle/>
          <a:p>
            <a:r>
              <a:rPr lang="en-IN" sz="1800" dirty="0">
                <a:latin typeface="Times New Roman" panose="02020603050405020304" pitchFamily="18" charset="0"/>
                <a:cs typeface="Times New Roman" panose="02020603050405020304" pitchFamily="18" charset="0"/>
              </a:rPr>
              <a:t>Abstract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Introduction</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Objectives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Literature Survey</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System architecture</a:t>
            </a:r>
            <a:endParaRPr lang="en-IN" sz="18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70C0"/>
                </a:solidFill>
                <a:latin typeface="Times New Roman" panose="02020603050405020304" pitchFamily="18" charset="0"/>
                <a:cs typeface="Times New Roman" panose="02020603050405020304" pitchFamily="18" charset="0"/>
              </a:rPr>
              <a:t>Abstract</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0" indent="0" algn="just">
              <a:lnSpc>
                <a:spcPct val="110000"/>
              </a:lnSpc>
              <a:buNone/>
            </a:pPr>
            <a:r>
              <a:rPr lang="en-IN" dirty="0">
                <a:latin typeface="Times New Roman" panose="02020603050405020304" pitchFamily="18" charset="0"/>
                <a:cs typeface="Times New Roman" panose="02020603050405020304" pitchFamily="18" charset="0"/>
              </a:rPr>
              <a:t>E-commerce platforms provide a very large number of products, which can make it difficult for customers to find products that match their needs and interests. To solve this problem, recommendation systems study different types of user activities, such as searches, clicks, product views, ratings, cart activity, and previous purchases. These activities help the system understand what a customer is interested in. The collected information is then processed through a recommendation pipeline, where the data is collected, cleaned, prepared, and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Based on this processed data, suitable products are identified, ranked according to their relevance, and recommended to the customer. The recommendations are personalized because they are based on the individual customer's interests and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This project focuses on understanding how an e-commerce recommendation system works, the different stages involved in its data pipeline, and how these personalized recommendations can improve product discovery, customer experience, and make online shopping easier and more convenient.</a:t>
            </a:r>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 y="480219"/>
            <a:ext cx="8458200" cy="715962"/>
          </a:xfrm>
        </p:spPr>
        <p:txBody>
          <a:bodyPr/>
          <a:lstStyle/>
          <a:p>
            <a:r>
              <a:rPr lang="en-IN" b="1" dirty="0">
                <a:latin typeface="Times New Roman" panose="02020603050405020304" pitchFamily="18" charset="0"/>
                <a:cs typeface="Times New Roman" panose="02020603050405020304" pitchFamily="18" charset="0"/>
              </a:rPr>
              <a:t>	</a:t>
            </a:r>
            <a:r>
              <a:rPr lang="en-IN" b="1" dirty="0">
                <a:solidFill>
                  <a:srgbClr val="0070C0"/>
                </a:solidFill>
                <a:latin typeface="Times New Roman" panose="02020603050405020304" pitchFamily="18" charset="0"/>
                <a:cs typeface="Times New Roman" panose="02020603050405020304" pitchFamily="18" charset="0"/>
              </a:rPr>
              <a:t>Introduction</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066800"/>
            <a:ext cx="8686800" cy="5029200"/>
          </a:xfrm>
        </p:spPr>
        <p:txBody>
          <a:bodyPr>
            <a:noAutofit/>
          </a:bodyPr>
          <a:lstStyle/>
          <a:p>
            <a:pPr algn="just">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E-commerce has become a major part of everyday shopping, with platforms offering thousands or even millions of products. With so many choices available, customers may find it difficult to identify products that are relevant to their needs.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An e-commerce recommendation system helps solve this problem by understanding customer interests and suggesting products that they are likely to prefer. It uses information such as search history, product views, clicks, ratings, cart activity, and previous purchases.</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Behind these recommendations is a recommendation pipeline. It takes user and product data, processes the information, finds relevant products, ranks them, and finally displays the most suitable recommendations to the customer.</a:t>
            </a: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endParaRPr lang="en-US" sz="1900" dirty="0">
              <a:latin typeface="Times New Roman" panose="02020603050405020304" pitchFamily="18" charset="0"/>
              <a:cs typeface="Times New Roman" panose="02020603050405020304" pitchFamily="18" charset="0"/>
            </a:endParaRPr>
          </a:p>
          <a:p>
            <a:pPr algn="just">
              <a:spcBef>
                <a:spcPts val="460"/>
              </a:spcBef>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Therefore, recommendation systems help make online shopping more personalized, convenient, and efficient, while also helping e-commerce platforms improve customer engagement and product discovery.</a:t>
            </a:r>
            <a:endParaRPr lang="en-IN" sz="19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latin typeface="Times New Roman" panose="02020603050405020304" pitchFamily="18" charset="0"/>
                <a:cs typeface="Times New Roman" panose="02020603050405020304" pitchFamily="18" charset="0"/>
              </a:rPr>
              <a:t>Objectives</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pPr>
            <a:r>
              <a:rPr lang="en-IN" sz="1900" dirty="0">
                <a:latin typeface="Times New Roman" panose="02020603050405020304" pitchFamily="18" charset="0"/>
                <a:cs typeface="Times New Roman" panose="02020603050405020304" pitchFamily="18" charset="0"/>
              </a:rPr>
              <a:t>Generate relevant product recommendations</a:t>
            </a:r>
            <a:endParaRPr lang="en-IN" sz="1900" dirty="0">
              <a:latin typeface="Times New Roman" panose="02020603050405020304" pitchFamily="18" charset="0"/>
              <a:cs typeface="Times New Roman" panose="02020603050405020304" pitchFamily="18" charset="0"/>
            </a:endParaRPr>
          </a:p>
          <a:p>
            <a:pPr lvl="0" algn="just">
              <a:lnSpc>
                <a:spcPct val="150000"/>
              </a:lnSpc>
            </a:pPr>
            <a:r>
              <a:rPr lang="en-IN" sz="1900" dirty="0">
                <a:latin typeface="Times New Roman" panose="02020603050405020304" pitchFamily="18" charset="0"/>
                <a:cs typeface="Times New Roman" panose="02020603050405020304" pitchFamily="18" charset="0"/>
              </a:rPr>
              <a:t>Rank products based on user </a:t>
            </a:r>
            <a:r>
              <a:rPr lang="en-IN" sz="1900" dirty="0" err="1">
                <a:latin typeface="Times New Roman" panose="02020603050405020304" pitchFamily="18" charset="0"/>
                <a:cs typeface="Times New Roman" panose="02020603050405020304" pitchFamily="18" charset="0"/>
              </a:rPr>
              <a:t>behavior</a:t>
            </a:r>
            <a:endParaRPr lang="en-IN" sz="1900" dirty="0">
              <a:latin typeface="Times New Roman" panose="02020603050405020304" pitchFamily="18" charset="0"/>
              <a:cs typeface="Times New Roman" panose="02020603050405020304" pitchFamily="18" charset="0"/>
            </a:endParaRPr>
          </a:p>
          <a:p>
            <a:pPr lvl="0" algn="just">
              <a:lnSpc>
                <a:spcPct val="150000"/>
              </a:lnSpc>
            </a:pPr>
            <a:r>
              <a:rPr lang="en-IN" sz="1900" dirty="0">
                <a:latin typeface="Times New Roman" panose="02020603050405020304" pitchFamily="18" charset="0"/>
                <a:cs typeface="Times New Roman" panose="02020603050405020304" pitchFamily="18" charset="0"/>
              </a:rPr>
              <a:t>Provide personalized recommendations</a:t>
            </a:r>
            <a:endParaRPr lang="en-IN" sz="1900" dirty="0">
              <a:latin typeface="Times New Roman" panose="02020603050405020304" pitchFamily="18" charset="0"/>
              <a:cs typeface="Times New Roman" panose="02020603050405020304" pitchFamily="18" charset="0"/>
            </a:endParaRPr>
          </a:p>
          <a:p>
            <a:pPr lvl="0" algn="just">
              <a:lnSpc>
                <a:spcPct val="150000"/>
              </a:lnSpc>
            </a:pPr>
            <a:r>
              <a:rPr lang="en-IN" sz="1900" dirty="0">
                <a:latin typeface="Times New Roman" panose="02020603050405020304" pitchFamily="18" charset="0"/>
                <a:cs typeface="Times New Roman" panose="02020603050405020304" pitchFamily="18" charset="0"/>
              </a:rPr>
              <a:t>Improve product discovery and customer experience</a:t>
            </a:r>
            <a:endParaRPr lang="en-IN" sz="1900" dirty="0">
              <a:latin typeface="Times New Roman" panose="02020603050405020304" pitchFamily="18" charset="0"/>
              <a:cs typeface="Times New Roman" panose="02020603050405020304" pitchFamily="18" charset="0"/>
            </a:endParaRPr>
          </a:p>
          <a:p>
            <a:pPr algn="just">
              <a:lnSpc>
                <a:spcPct val="150000"/>
              </a:lnSpc>
            </a:pPr>
            <a:endParaRPr lang="en-IN" sz="19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5791200" cy="381000"/>
          </a:xfrm>
        </p:spPr>
        <p:txBody>
          <a:bodyPr>
            <a:normAutofit fontScale="90000"/>
          </a:bodyPr>
          <a:lstStyle/>
          <a:p>
            <a:r>
              <a:rPr lang="en-IN" b="1" dirty="0">
                <a:solidFill>
                  <a:srgbClr val="0070C0"/>
                </a:solidFill>
                <a:latin typeface="Times New Roman" panose="02020603050405020304" pitchFamily="18" charset="0"/>
                <a:cs typeface="Times New Roman" panose="02020603050405020304" pitchFamily="18" charset="0"/>
              </a:rPr>
              <a:t>Literature Survey</a:t>
            </a:r>
            <a:endParaRPr lang="en-IN"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nvPr>
        </p:nvGraphicFramePr>
        <p:xfrm>
          <a:off x="76200" y="685800"/>
          <a:ext cx="8991600" cy="6063362"/>
        </p:xfrm>
        <a:graphic>
          <a:graphicData uri="http://schemas.openxmlformats.org/drawingml/2006/table">
            <a:tbl>
              <a:tblPr>
                <a:tableStyleId>{5C22544A-7EE6-4342-B048-85BDC9FD1C3A}</a:tableStyleId>
              </a:tblPr>
              <a:tblGrid>
                <a:gridCol w="537959"/>
                <a:gridCol w="2357641"/>
                <a:gridCol w="2560841"/>
                <a:gridCol w="1020559"/>
                <a:gridCol w="2514600"/>
              </a:tblGrid>
              <a:tr h="308672">
                <a:tc>
                  <a:txBody>
                    <a:bodyPr/>
                    <a:lstStyle/>
                    <a:p>
                      <a:pPr>
                        <a:buNone/>
                      </a:pPr>
                      <a:r>
                        <a:rPr lang="en-IN" sz="1100">
                          <a:latin typeface="Times New Roman" panose="02020603050405020304" pitchFamily="18" charset="0"/>
                          <a:cs typeface="Times New Roman" panose="02020603050405020304" pitchFamily="18" charset="0"/>
                        </a:rPr>
                        <a:t>S.No</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Research Paper</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Author(s)</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b="1">
                          <a:latin typeface="Times New Roman" panose="02020603050405020304" pitchFamily="18" charset="0"/>
                          <a:cs typeface="Times New Roman" panose="02020603050405020304" pitchFamily="18" charset="0"/>
                        </a:rPr>
                        <a:t>Actual Link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c>
                  <a:txBody>
                    <a:bodyPr/>
                    <a:lstStyle/>
                    <a:p>
                      <a:pPr>
                        <a:buNone/>
                      </a:pPr>
                      <a:r>
                        <a:rPr lang="en-IN" sz="1100">
                          <a:latin typeface="Times New Roman" panose="02020603050405020304" pitchFamily="18" charset="0"/>
                          <a:cs typeface="Times New Roman" panose="02020603050405020304" pitchFamily="18" charset="0"/>
                        </a:rPr>
                        <a:t>Drawback</a:t>
                      </a:r>
                      <a:endParaRPr lang="en-IN" sz="1100">
                        <a:latin typeface="Times New Roman" panose="02020603050405020304" pitchFamily="18" charset="0"/>
                        <a:cs typeface="Times New Roman" panose="02020603050405020304" pitchFamily="18" charset="0"/>
                      </a:endParaRPr>
                    </a:p>
                  </a:txBody>
                  <a:tcPr anchor="ctr">
                    <a:solidFill>
                      <a:srgbClr val="0070C0"/>
                    </a:solidFill>
                  </a:tcPr>
                </a:tc>
              </a:tr>
              <a:tr h="907858">
                <a:tc>
                  <a:txBody>
                    <a:bodyPr/>
                    <a:lstStyle/>
                    <a:p>
                      <a:pPr>
                        <a:buNone/>
                      </a:pPr>
                      <a:r>
                        <a:rPr lang="en-IN" sz="1100" b="1">
                          <a:latin typeface="Times New Roman" panose="02020603050405020304" pitchFamily="18" charset="0"/>
                          <a:cs typeface="Times New Roman" panose="02020603050405020304" pitchFamily="18" charset="0"/>
                        </a:rPr>
                        <a:t>1.</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Toward the Next Generation of Recommender Systems: A Survey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Gediminas Adomavicius, Alexander Tuzhilin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
                        </a:rPr>
                        <a:t>https://doi.org/10.1109/TKDE.2005.99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a broad overview of recommendation techniques, but does not focus on one specific e-commerce application. (</a:t>
                      </a:r>
                      <a:r>
                        <a:rPr lang="en-IN" sz="1100">
                          <a:latin typeface="Times New Roman" panose="02020603050405020304" pitchFamily="18" charset="0"/>
                          <a:cs typeface="Times New Roman" panose="02020603050405020304" pitchFamily="18" charset="0"/>
                          <a:hlinkClick r:id="rId2" tooltip="Sistema de recomendación"/>
                        </a:rPr>
                        <a:t>Wikipedia</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1107587">
                <a:tc>
                  <a:txBody>
                    <a:bodyPr/>
                    <a:lstStyle/>
                    <a:p>
                      <a:pPr>
                        <a:buNone/>
                      </a:pPr>
                      <a:r>
                        <a:rPr lang="en-IN" sz="1100" b="1">
                          <a:latin typeface="Times New Roman" panose="02020603050405020304" pitchFamily="18" charset="0"/>
                          <a:cs typeface="Times New Roman" panose="02020603050405020304" pitchFamily="18" charset="0"/>
                        </a:rPr>
                        <a:t>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Amazon.com Recommendations: Item-to-Item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Greg Linden, Brent Smith, Jeremy York</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3"/>
                        </a:rPr>
                        <a:t>https://doi.org/10.1109/MIC.2003.1167344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Works well for large-scale recommendations, but mainly focuses on item-to-item relationships and may not fully capture complex user preferences. (</a:t>
                      </a:r>
                      <a:r>
                        <a:rPr lang="en-IN" sz="1100">
                          <a:latin typeface="Times New Roman" panose="02020603050405020304" pitchFamily="18" charset="0"/>
                          <a:cs typeface="Times New Roman" panose="02020603050405020304" pitchFamily="18" charset="0"/>
                          <a:hlinkClick r:id="rId4" tooltip="Amazon.com recommendations: item-to-item collaborative filtering | IEEE Journals &amp; Magazine | IEEE Xplore"/>
                        </a:rPr>
                        <a:t>IEEE Xplore</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7858">
                <a:tc>
                  <a:txBody>
                    <a:bodyPr/>
                    <a:lstStyle/>
                    <a:p>
                      <a:pPr>
                        <a:buNone/>
                      </a:pPr>
                      <a:r>
                        <a:rPr lang="en-IN" sz="1100" b="1">
                          <a:latin typeface="Times New Roman" panose="02020603050405020304" pitchFamily="18" charset="0"/>
                          <a:cs typeface="Times New Roman" panose="02020603050405020304" pitchFamily="18" charset="0"/>
                        </a:rPr>
                        <a:t>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Collaborative Filtering for Implicit Feedback Datasets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Yifan Hu, Yehuda Koren,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5"/>
                        </a:rPr>
                        <a:t>https://doi.org/10.1109/ICDM.2008.22</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implicit user feedback such as views and purchases, but implicit feedback does not always indicate whether a user actually liked a product. (</a:t>
                      </a:r>
                      <a:r>
                        <a:rPr lang="en-IN" sz="1100">
                          <a:latin typeface="Times New Roman" panose="02020603050405020304" pitchFamily="18" charset="0"/>
                          <a:cs typeface="Times New Roman" panose="02020603050405020304" pitchFamily="18" charset="0"/>
                          <a:hlinkClick r:id="rId6" tooltip="Collaborative Filtering for Implicit Feedback Datasets | CiNii Research"/>
                        </a:rPr>
                        <a:t>CiNii Research</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72107">
                <a:tc>
                  <a:txBody>
                    <a:bodyPr/>
                    <a:lstStyle/>
                    <a:p>
                      <a:pPr>
                        <a:buNone/>
                      </a:pPr>
                      <a:r>
                        <a:rPr lang="en-IN" sz="1100" b="1">
                          <a:latin typeface="Times New Roman" panose="02020603050405020304" pitchFamily="18" charset="0"/>
                          <a:cs typeface="Times New Roman" panose="02020603050405020304" pitchFamily="18" charset="0"/>
                        </a:rPr>
                        <a:t>4.</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Matrix Factorization Techniques for Recommender Systems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Yehuda Koren, Robert Bell, Chris Volinsky</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7"/>
                        </a:rPr>
                        <a:t>https://doi.org/10.1109/MC.2009.263</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Provides effective recommendations, but matrix factorization can have difficulty with new users or new products due to the cold-start problem. (</a:t>
                      </a:r>
                      <a:r>
                        <a:rPr lang="en-IN" sz="1100">
                          <a:latin typeface="Times New Roman" panose="02020603050405020304" pitchFamily="18" charset="0"/>
                          <a:cs typeface="Times New Roman" panose="02020603050405020304" pitchFamily="18" charset="0"/>
                          <a:hlinkClick r:id="rId8" tooltip="Matrix Factorization Techniques for Recommender Systems"/>
                        </a:rPr>
                        <a:t>OA Monitor Ireland</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7858">
                <a:tc>
                  <a:txBody>
                    <a:bodyPr/>
                    <a:lstStyle/>
                    <a:p>
                      <a:pPr>
                        <a:buNone/>
                      </a:pPr>
                      <a:r>
                        <a:rPr lang="en-IN" sz="1100" b="1">
                          <a:latin typeface="Times New Roman" panose="02020603050405020304" pitchFamily="18" charset="0"/>
                          <a:cs typeface="Times New Roman" panose="02020603050405020304" pitchFamily="18" charset="0"/>
                        </a:rPr>
                        <a:t>5.</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Deep Neural Networks for YouTube Recommendations</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Paul Covington, Jay Adams, Emre Sargin</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9"/>
                        </a:rPr>
                        <a:t>https://doi.org/10.1145/2959100.2959190</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Uses deep learning for candidate generation and ranking, but requires large amounts of data and computational resources. (</a:t>
                      </a:r>
                      <a:r>
                        <a:rPr lang="en-IN" sz="1100">
                          <a:latin typeface="Times New Roman" panose="02020603050405020304" pitchFamily="18" charset="0"/>
                          <a:cs typeface="Times New Roman" panose="02020603050405020304" pitchFamily="18" charset="0"/>
                          <a:hlinkClick r:id="rId10" tooltip="Deep Neural Networks for YouTube Recommendations | Proceedings of the 10th ACM Conference on Recommender Systems"/>
                        </a:rPr>
                        <a:t>DOI</a:t>
                      </a:r>
                      <a:r>
                        <a:rPr lang="en-IN" sz="1100">
                          <a:latin typeface="Times New Roman" panose="02020603050405020304" pitchFamily="18" charset="0"/>
                          <a:cs typeface="Times New Roman" panose="02020603050405020304" pitchFamily="18" charset="0"/>
                        </a:rPr>
                        <a:t>)</a:t>
                      </a:r>
                      <a:endParaRPr lang="en-IN" sz="1100">
                        <a:latin typeface="Times New Roman" panose="02020603050405020304" pitchFamily="18" charset="0"/>
                        <a:cs typeface="Times New Roman" panose="02020603050405020304" pitchFamily="18" charset="0"/>
                      </a:endParaRPr>
                    </a:p>
                  </a:txBody>
                  <a:tcPr anchor="ctr"/>
                </a:tc>
              </a:tr>
              <a:tr h="907858">
                <a:tc>
                  <a:txBody>
                    <a:bodyPr/>
                    <a:lstStyle/>
                    <a:p>
                      <a:pPr>
                        <a:buNone/>
                      </a:pPr>
                      <a:r>
                        <a:rPr lang="en-IN" sz="1100" b="1">
                          <a:latin typeface="Times New Roman" panose="02020603050405020304" pitchFamily="18" charset="0"/>
                          <a:cs typeface="Times New Roman" panose="02020603050405020304" pitchFamily="18" charset="0"/>
                        </a:rPr>
                        <a:t>6.</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Neural Collaborative Filtering</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rPr>
                        <a:t>Xiangnan He, Lizi Liao, Hanwang Zhang, Liqiang Nie, Xia Hu, Tat-Seng Chua</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a:latin typeface="Times New Roman" panose="02020603050405020304" pitchFamily="18" charset="0"/>
                          <a:cs typeface="Times New Roman" panose="02020603050405020304" pitchFamily="18" charset="0"/>
                          <a:hlinkClick r:id="rId11"/>
                        </a:rPr>
                        <a:t>https://doi.org/10.1145/3038912.3052569</a:t>
                      </a:r>
                      <a:endParaRPr lang="en-IN" sz="1100">
                        <a:latin typeface="Times New Roman" panose="02020603050405020304" pitchFamily="18" charset="0"/>
                        <a:cs typeface="Times New Roman" panose="02020603050405020304" pitchFamily="18" charset="0"/>
                      </a:endParaRPr>
                    </a:p>
                  </a:txBody>
                  <a:tcPr anchor="ctr"/>
                </a:tc>
                <a:tc>
                  <a:txBody>
                    <a:bodyPr/>
                    <a:lstStyle/>
                    <a:p>
                      <a:pPr>
                        <a:buNone/>
                      </a:pPr>
                      <a:r>
                        <a:rPr lang="en-IN" sz="1100" dirty="0">
                          <a:latin typeface="Times New Roman" panose="02020603050405020304" pitchFamily="18" charset="0"/>
                          <a:cs typeface="Times New Roman" panose="02020603050405020304" pitchFamily="18" charset="0"/>
                        </a:rPr>
                        <a:t>Improves recommendation using neural networks, but the model is more complex and requires more computation than traditional methods. (</a:t>
                      </a:r>
                      <a:r>
                        <a:rPr lang="en-IN" sz="1100" dirty="0">
                          <a:latin typeface="Times New Roman" panose="02020603050405020304" pitchFamily="18" charset="0"/>
                          <a:cs typeface="Times New Roman" panose="02020603050405020304" pitchFamily="18" charset="0"/>
                          <a:hlinkClick r:id="rId12" tooltip="Neural Collaborative Filtering | Proceedings of the 26th ..."/>
                        </a:rPr>
                        <a:t>ACM Digital Library</a:t>
                      </a:r>
                      <a:r>
                        <a:rPr lang="en-IN" sz="1100" dirty="0">
                          <a:latin typeface="Times New Roman" panose="02020603050405020304" pitchFamily="18" charset="0"/>
                          <a:cs typeface="Times New Roman" panose="02020603050405020304" pitchFamily="18" charset="0"/>
                        </a:rPr>
                        <a:t>)</a:t>
                      </a:r>
                      <a:endParaRPr lang="en-IN" sz="1100" dirty="0">
                        <a:latin typeface="Times New Roman" panose="02020603050405020304" pitchFamily="18" charset="0"/>
                        <a:cs typeface="Times New Roman" panose="02020603050405020304" pitchFamily="18" charset="0"/>
                      </a:endParaRPr>
                    </a:p>
                  </a:txBody>
                  <a:tcPr anchor="ctr"/>
                </a:tc>
              </a:tr>
            </a:tbl>
          </a:graphicData>
        </a:graphic>
      </p:graphicFrame>
      <p:pic>
        <p:nvPicPr>
          <p:cNvPr id="4" name="Picture 3"/>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126993"/>
            <a:ext cx="1874990" cy="9397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latin typeface="Times New Roman" panose="02020603050405020304" pitchFamily="18" charset="0"/>
                <a:cs typeface="Times New Roman" panose="02020603050405020304" pitchFamily="18" charset="0"/>
              </a:rPr>
              <a:t>System Architecture</a:t>
            </a:r>
            <a:endParaRPr lang="en-IN" b="1" dirty="0">
              <a:solidFill>
                <a:srgbClr val="0070C0"/>
              </a:solidFill>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800" y="127015"/>
            <a:ext cx="1874990" cy="939785"/>
          </a:xfrm>
          <a:prstGeom prst="rect">
            <a:avLst/>
          </a:prstGeom>
          <a:noFill/>
          <a:ln>
            <a:noFill/>
          </a:ln>
        </p:spPr>
      </p:pic>
      <p:pic>
        <p:nvPicPr>
          <p:cNvPr id="6" name="Picture 5" descr="E-commerce Recommendation Pipeline Architecture"/>
          <p:cNvPicPr>
            <a:picLocks noChangeAspect="1"/>
          </p:cNvPicPr>
          <p:nvPr/>
        </p:nvPicPr>
        <p:blipFill>
          <a:blip r:embed="rId2"/>
          <a:srcRect t="5000" b="38333"/>
          <a:stretch>
            <a:fillRect/>
          </a:stretch>
        </p:blipFill>
        <p:spPr>
          <a:xfrm>
            <a:off x="609600" y="1752600"/>
            <a:ext cx="7853045" cy="38112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4967</Words>
  <Application>WPS Presentation</Application>
  <PresentationFormat>On-screen Show (4:3)</PresentationFormat>
  <Paragraphs>131</Paragraphs>
  <Slides>7</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SimSun</vt:lpstr>
      <vt:lpstr>Wingdings</vt:lpstr>
      <vt:lpstr>Times New Roman</vt:lpstr>
      <vt:lpstr>Aptos</vt:lpstr>
      <vt:lpstr>Segoe UI</vt:lpstr>
      <vt:lpstr>Calibri</vt:lpstr>
      <vt:lpstr>Microsoft YaHei</vt:lpstr>
      <vt:lpstr>Arial Unicode MS</vt:lpstr>
      <vt:lpstr>Office Theme</vt:lpstr>
      <vt:lpstr>    	E-Commerce Recommendation pipeline      </vt:lpstr>
      <vt:lpstr>Table of contents</vt:lpstr>
      <vt:lpstr>Abstract</vt:lpstr>
      <vt:lpstr>	Introduction</vt:lpstr>
      <vt:lpstr>Objectives</vt:lpstr>
      <vt:lpstr>Literature Survey</vt:lpstr>
      <vt:lpstr>System Architecture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sanuh</cp:lastModifiedBy>
  <cp:revision>218</cp:revision>
  <dcterms:created xsi:type="dcterms:W3CDTF">2006-08-16T00:00:00Z</dcterms:created>
  <dcterms:modified xsi:type="dcterms:W3CDTF">2026-10-26T16:10:42Z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B05562DEA4B245A89837CD9306AAAFF8_12</vt:lpwstr>
  </property>
</Properties>
</file>